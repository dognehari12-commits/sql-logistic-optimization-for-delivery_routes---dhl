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Ex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1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notesMasterIdLst>
    <p:notesMasterId r:id="rId33"/>
  </p:notesMasterIdLst>
  <p:sldIdLst>
    <p:sldId id="282" r:id="rId2"/>
    <p:sldId id="283" r:id="rId3"/>
    <p:sldId id="284" r:id="rId4"/>
    <p:sldId id="285" r:id="rId5"/>
    <p:sldId id="256" r:id="rId6"/>
    <p:sldId id="257" r:id="rId7"/>
    <p:sldId id="271" r:id="rId8"/>
    <p:sldId id="258" r:id="rId9"/>
    <p:sldId id="272" r:id="rId10"/>
    <p:sldId id="259" r:id="rId11"/>
    <p:sldId id="260" r:id="rId12"/>
    <p:sldId id="261" r:id="rId13"/>
    <p:sldId id="273" r:id="rId14"/>
    <p:sldId id="274" r:id="rId15"/>
    <p:sldId id="262" r:id="rId16"/>
    <p:sldId id="263" r:id="rId17"/>
    <p:sldId id="275" r:id="rId18"/>
    <p:sldId id="276" r:id="rId19"/>
    <p:sldId id="264" r:id="rId20"/>
    <p:sldId id="265" r:id="rId21"/>
    <p:sldId id="277" r:id="rId22"/>
    <p:sldId id="266" r:id="rId23"/>
    <p:sldId id="268" r:id="rId24"/>
    <p:sldId id="267" r:id="rId25"/>
    <p:sldId id="278" r:id="rId26"/>
    <p:sldId id="269" r:id="rId27"/>
    <p:sldId id="270" r:id="rId28"/>
    <p:sldId id="279" r:id="rId29"/>
    <p:sldId id="280" r:id="rId30"/>
    <p:sldId id="281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092" autoAdjust="0"/>
  </p:normalViewPr>
  <p:slideViewPr>
    <p:cSldViewPr snapToGrid="0">
      <p:cViewPr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Top%2010%20Delayed%20Routes%20(Based%20on%20Average%20Delay).xm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Average%20Delay%20per%20Delivery_Type.xm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Average%20Delay%20(Hours)%20per%20Route.xm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Distance-to-Time%20Efficiency%20Ratio.xm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Identify%203%20Routes%20with%20Worst%20Efficiency.xml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Routes%20with%20grater%20than%2020%25%20Shipments%20Delayed%20Beyond%20Expected%20Transit%20Time.xml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Total%20Shipments%20vs%20Delayed%20Shipments%20(Per%20Warehouse).xml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Compare%20Avg%20Rating%20&amp;%20Experience%20step%202.xml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Most%20Frequent%20Delay%20Reasons.xml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Orders%20with%20Exceptionally%20High%20Delay%20grater%20than120%20Hours.xml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Average%20Delay%20(Hours)%20per%20Route_ID.xml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Internshala\Sql%20project\Tables\Warehouse%20Utilization%20Percentage.xml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hp\Desktop\Internshala\Sql%20project\Tables\Average%20Delivery%20Delay%20per%20Source_Country.xm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Top</a:t>
            </a:r>
            <a:r>
              <a:rPr lang="en-US" b="1" baseline="0"/>
              <a:t> 10 delayed routes based on Average Delay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Table1!$A$2:$A$11</c:f>
              <c:strCache>
                <c:ptCount val="10"/>
                <c:pt idx="0">
                  <c:v>R002</c:v>
                </c:pt>
                <c:pt idx="1">
                  <c:v>R007</c:v>
                </c:pt>
                <c:pt idx="2">
                  <c:v>R020</c:v>
                </c:pt>
                <c:pt idx="3">
                  <c:v>R003</c:v>
                </c:pt>
                <c:pt idx="4">
                  <c:v>R008</c:v>
                </c:pt>
                <c:pt idx="5">
                  <c:v>R005</c:v>
                </c:pt>
                <c:pt idx="6">
                  <c:v>R004</c:v>
                </c:pt>
                <c:pt idx="7">
                  <c:v>R018</c:v>
                </c:pt>
                <c:pt idx="8">
                  <c:v>R011</c:v>
                </c:pt>
                <c:pt idx="9">
                  <c:v>R014</c:v>
                </c:pt>
              </c:strCache>
            </c:strRef>
          </c:cat>
          <c:val>
            <c:numRef>
              <c:f>Table1!$B$2:$B$11</c:f>
              <c:numCache>
                <c:formatCode>General</c:formatCode>
                <c:ptCount val="10"/>
                <c:pt idx="0">
                  <c:v>41.04</c:v>
                </c:pt>
                <c:pt idx="1">
                  <c:v>34.01</c:v>
                </c:pt>
                <c:pt idx="2">
                  <c:v>32.799999999999997</c:v>
                </c:pt>
                <c:pt idx="3">
                  <c:v>32.18</c:v>
                </c:pt>
                <c:pt idx="4">
                  <c:v>30.81</c:v>
                </c:pt>
                <c:pt idx="5">
                  <c:v>29.86</c:v>
                </c:pt>
                <c:pt idx="6">
                  <c:v>25.88</c:v>
                </c:pt>
                <c:pt idx="7">
                  <c:v>25.83</c:v>
                </c:pt>
                <c:pt idx="8">
                  <c:v>22.64</c:v>
                </c:pt>
                <c:pt idx="9">
                  <c:v>20.97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7D-42AB-BBAB-D73922FCCD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526362288"/>
        <c:axId val="526346448"/>
        <c:axId val="0"/>
      </c:bar3DChart>
      <c:catAx>
        <c:axId val="5263622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Route_ID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346448"/>
        <c:crosses val="autoZero"/>
        <c:auto val="1"/>
        <c:lblAlgn val="ctr"/>
        <c:lblOffset val="100"/>
        <c:noMultiLvlLbl val="0"/>
      </c:catAx>
      <c:valAx>
        <c:axId val="52634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 Avg_Delay_Hours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3622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Delay per Delivery_Type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Table1!$A$2:$A$3</c:f>
              <c:strCache>
                <c:ptCount val="2"/>
                <c:pt idx="0">
                  <c:v>Standard</c:v>
                </c:pt>
                <c:pt idx="1">
                  <c:v>Express</c:v>
                </c:pt>
              </c:strCache>
            </c:strRef>
          </c:cat>
          <c:val>
            <c:numRef>
              <c:f>Table1!$B$2:$B$3</c:f>
              <c:numCache>
                <c:formatCode>General</c:formatCode>
                <c:ptCount val="2"/>
                <c:pt idx="0">
                  <c:v>20.85</c:v>
                </c:pt>
                <c:pt idx="1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DB-4019-A312-AE2DAAE6D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700016848"/>
        <c:axId val="700003408"/>
        <c:axId val="0"/>
      </c:bar3DChart>
      <c:catAx>
        <c:axId val="70001684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Delivery_Type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0003408"/>
        <c:crosses val="autoZero"/>
        <c:auto val="1"/>
        <c:lblAlgn val="ctr"/>
        <c:lblOffset val="100"/>
        <c:noMultiLvlLbl val="0"/>
      </c:catAx>
      <c:valAx>
        <c:axId val="700003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Avg_Delay_Hours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0016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Avg_Delay in hours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Table1!$B$1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Table1!$A$2:$A$21</c:f>
              <c:strCache>
                <c:ptCount val="20"/>
                <c:pt idx="0">
                  <c:v>R019</c:v>
                </c:pt>
                <c:pt idx="1">
                  <c:v>R011</c:v>
                </c:pt>
                <c:pt idx="2">
                  <c:v>R002</c:v>
                </c:pt>
                <c:pt idx="3">
                  <c:v>R020</c:v>
                </c:pt>
                <c:pt idx="4">
                  <c:v>R015</c:v>
                </c:pt>
                <c:pt idx="5">
                  <c:v>R008</c:v>
                </c:pt>
                <c:pt idx="6">
                  <c:v>R012</c:v>
                </c:pt>
                <c:pt idx="7">
                  <c:v>R009</c:v>
                </c:pt>
                <c:pt idx="8">
                  <c:v>R010</c:v>
                </c:pt>
                <c:pt idx="9">
                  <c:v>R018</c:v>
                </c:pt>
                <c:pt idx="10">
                  <c:v>R014</c:v>
                </c:pt>
                <c:pt idx="11">
                  <c:v>R016</c:v>
                </c:pt>
                <c:pt idx="12">
                  <c:v>R005</c:v>
                </c:pt>
                <c:pt idx="13">
                  <c:v>R007</c:v>
                </c:pt>
                <c:pt idx="14">
                  <c:v>R003</c:v>
                </c:pt>
                <c:pt idx="15">
                  <c:v>R017</c:v>
                </c:pt>
                <c:pt idx="16">
                  <c:v>R013</c:v>
                </c:pt>
                <c:pt idx="17">
                  <c:v>R006</c:v>
                </c:pt>
                <c:pt idx="18">
                  <c:v>R004</c:v>
                </c:pt>
                <c:pt idx="19">
                  <c:v>R001</c:v>
                </c:pt>
              </c:strCache>
            </c:strRef>
          </c:cat>
          <c:val>
            <c:numRef>
              <c:f>Table1!$B$2:$B$21</c:f>
              <c:numCache>
                <c:formatCode>General</c:formatCode>
                <c:ptCount val="20"/>
                <c:pt idx="0">
                  <c:v>13.91</c:v>
                </c:pt>
                <c:pt idx="1">
                  <c:v>22.64</c:v>
                </c:pt>
                <c:pt idx="2">
                  <c:v>41.04</c:v>
                </c:pt>
                <c:pt idx="3">
                  <c:v>32.799999999999997</c:v>
                </c:pt>
                <c:pt idx="4">
                  <c:v>15.19</c:v>
                </c:pt>
                <c:pt idx="5">
                  <c:v>30.81</c:v>
                </c:pt>
                <c:pt idx="6">
                  <c:v>13.89</c:v>
                </c:pt>
                <c:pt idx="7">
                  <c:v>9.7200000000000006</c:v>
                </c:pt>
                <c:pt idx="8">
                  <c:v>20.25</c:v>
                </c:pt>
                <c:pt idx="9">
                  <c:v>25.83</c:v>
                </c:pt>
                <c:pt idx="10">
                  <c:v>20.97</c:v>
                </c:pt>
                <c:pt idx="11">
                  <c:v>14.89</c:v>
                </c:pt>
                <c:pt idx="12">
                  <c:v>29.86</c:v>
                </c:pt>
                <c:pt idx="13">
                  <c:v>34.01</c:v>
                </c:pt>
                <c:pt idx="14">
                  <c:v>32.18</c:v>
                </c:pt>
                <c:pt idx="15">
                  <c:v>19.27</c:v>
                </c:pt>
                <c:pt idx="16">
                  <c:v>11.95</c:v>
                </c:pt>
                <c:pt idx="17">
                  <c:v>14.01</c:v>
                </c:pt>
                <c:pt idx="18">
                  <c:v>25.88</c:v>
                </c:pt>
                <c:pt idx="19">
                  <c:v>6.83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0A-426D-97C8-DE0F021D71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311654431"/>
        <c:axId val="1311646751"/>
        <c:axId val="0"/>
      </c:bar3DChart>
      <c:catAx>
        <c:axId val="131165443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Route_ID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646751"/>
        <c:crosses val="autoZero"/>
        <c:auto val="1"/>
        <c:lblAlgn val="ctr"/>
        <c:lblOffset val="100"/>
        <c:noMultiLvlLbl val="0"/>
      </c:catAx>
      <c:valAx>
        <c:axId val="13116467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Avg_Delay_Hours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1654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[Distance-to-Time Efficiency Ratio.xml]Sheet2!PivotTable7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600"/>
              <a:t>Distance-to-time</a:t>
            </a:r>
            <a:r>
              <a:rPr lang="en-US" sz="1600" baseline="0"/>
              <a:t> efficiency ratio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Sum of Distance_KM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Sheet2!$A$4:$A$24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Sheet2!$B$4:$B$24</c:f>
              <c:numCache>
                <c:formatCode>General</c:formatCode>
                <c:ptCount val="20"/>
                <c:pt idx="0">
                  <c:v>4620</c:v>
                </c:pt>
                <c:pt idx="1">
                  <c:v>7264</c:v>
                </c:pt>
                <c:pt idx="2">
                  <c:v>885</c:v>
                </c:pt>
                <c:pt idx="3">
                  <c:v>8555</c:v>
                </c:pt>
                <c:pt idx="4">
                  <c:v>10023</c:v>
                </c:pt>
                <c:pt idx="5">
                  <c:v>2364</c:v>
                </c:pt>
                <c:pt idx="6">
                  <c:v>5297</c:v>
                </c:pt>
                <c:pt idx="7">
                  <c:v>1846</c:v>
                </c:pt>
                <c:pt idx="8">
                  <c:v>5582</c:v>
                </c:pt>
                <c:pt idx="9">
                  <c:v>6268</c:v>
                </c:pt>
                <c:pt idx="10">
                  <c:v>7369</c:v>
                </c:pt>
                <c:pt idx="11">
                  <c:v>11397</c:v>
                </c:pt>
                <c:pt idx="12">
                  <c:v>3794</c:v>
                </c:pt>
                <c:pt idx="13">
                  <c:v>5394</c:v>
                </c:pt>
                <c:pt idx="14">
                  <c:v>606</c:v>
                </c:pt>
                <c:pt idx="15">
                  <c:v>8018</c:v>
                </c:pt>
                <c:pt idx="16">
                  <c:v>6651</c:v>
                </c:pt>
                <c:pt idx="17">
                  <c:v>9347</c:v>
                </c:pt>
                <c:pt idx="18">
                  <c:v>7255</c:v>
                </c:pt>
                <c:pt idx="19">
                  <c:v>2513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24-461C-AA34-5DB98B03EF22}"/>
            </c:ext>
          </c:extLst>
        </c:ser>
        <c:ser>
          <c:idx val="1"/>
          <c:order val="1"/>
          <c:tx>
            <c:strRef>
              <c:f>Sheet2!$C$3</c:f>
              <c:strCache>
                <c:ptCount val="1"/>
                <c:pt idx="0">
                  <c:v>Sum of Avg_Transit_Time_Hours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Sheet2!$A$4:$A$24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Sheet2!$C$4:$C$24</c:f>
              <c:numCache>
                <c:formatCode>General</c:formatCode>
                <c:ptCount val="20"/>
                <c:pt idx="0">
                  <c:v>44.3</c:v>
                </c:pt>
                <c:pt idx="1">
                  <c:v>63.7</c:v>
                </c:pt>
                <c:pt idx="2">
                  <c:v>60.21</c:v>
                </c:pt>
                <c:pt idx="3">
                  <c:v>83.76</c:v>
                </c:pt>
                <c:pt idx="4">
                  <c:v>57.13</c:v>
                </c:pt>
                <c:pt idx="5">
                  <c:v>41.55</c:v>
                </c:pt>
                <c:pt idx="6">
                  <c:v>70.900000000000006</c:v>
                </c:pt>
                <c:pt idx="7">
                  <c:v>51.14</c:v>
                </c:pt>
                <c:pt idx="8">
                  <c:v>28.18</c:v>
                </c:pt>
                <c:pt idx="9">
                  <c:v>33.58</c:v>
                </c:pt>
                <c:pt idx="10">
                  <c:v>41.13</c:v>
                </c:pt>
                <c:pt idx="11">
                  <c:v>63.8</c:v>
                </c:pt>
                <c:pt idx="12">
                  <c:v>50.38</c:v>
                </c:pt>
                <c:pt idx="13">
                  <c:v>52.36</c:v>
                </c:pt>
                <c:pt idx="14">
                  <c:v>28.11</c:v>
                </c:pt>
                <c:pt idx="15">
                  <c:v>51.63</c:v>
                </c:pt>
                <c:pt idx="16">
                  <c:v>70.599999999999994</c:v>
                </c:pt>
                <c:pt idx="17">
                  <c:v>75.73</c:v>
                </c:pt>
                <c:pt idx="18">
                  <c:v>30.73</c:v>
                </c:pt>
                <c:pt idx="19">
                  <c:v>52.98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24-461C-AA34-5DB98B03EF22}"/>
            </c:ext>
          </c:extLst>
        </c:ser>
        <c:ser>
          <c:idx val="2"/>
          <c:order val="2"/>
          <c:tx>
            <c:strRef>
              <c:f>Sheet2!$D$3</c:f>
              <c:strCache>
                <c:ptCount val="1"/>
                <c:pt idx="0">
                  <c:v>Sum of Distance_Time_Efficiency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Sheet2!$A$4:$A$24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Sheet2!$D$4:$D$24</c:f>
              <c:numCache>
                <c:formatCode>General</c:formatCode>
                <c:ptCount val="20"/>
                <c:pt idx="0">
                  <c:v>104.3</c:v>
                </c:pt>
                <c:pt idx="1">
                  <c:v>114.03</c:v>
                </c:pt>
                <c:pt idx="2">
                  <c:v>14.7</c:v>
                </c:pt>
                <c:pt idx="3">
                  <c:v>102.14</c:v>
                </c:pt>
                <c:pt idx="4">
                  <c:v>175.46</c:v>
                </c:pt>
                <c:pt idx="5">
                  <c:v>56.89</c:v>
                </c:pt>
                <c:pt idx="6">
                  <c:v>74.709999999999994</c:v>
                </c:pt>
                <c:pt idx="7">
                  <c:v>36.1</c:v>
                </c:pt>
                <c:pt idx="8">
                  <c:v>198.05</c:v>
                </c:pt>
                <c:pt idx="9">
                  <c:v>186.68</c:v>
                </c:pt>
                <c:pt idx="10">
                  <c:v>179.19</c:v>
                </c:pt>
                <c:pt idx="11">
                  <c:v>178.63</c:v>
                </c:pt>
                <c:pt idx="12">
                  <c:v>75.31</c:v>
                </c:pt>
                <c:pt idx="13">
                  <c:v>103.02</c:v>
                </c:pt>
                <c:pt idx="14">
                  <c:v>21.56</c:v>
                </c:pt>
                <c:pt idx="15">
                  <c:v>155.29</c:v>
                </c:pt>
                <c:pt idx="16">
                  <c:v>94.2</c:v>
                </c:pt>
                <c:pt idx="17">
                  <c:v>123.43</c:v>
                </c:pt>
                <c:pt idx="18">
                  <c:v>236.05</c:v>
                </c:pt>
                <c:pt idx="19">
                  <c:v>47.44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24-461C-AA34-5DB98B03E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485000240"/>
        <c:axId val="1485002160"/>
      </c:barChart>
      <c:catAx>
        <c:axId val="1485000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5002160"/>
        <c:crosses val="autoZero"/>
        <c:auto val="1"/>
        <c:lblAlgn val="ctr"/>
        <c:lblOffset val="100"/>
        <c:noMultiLvlLbl val="0"/>
      </c:catAx>
      <c:valAx>
        <c:axId val="1485002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500024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Table1!$B$1</c:f>
              <c:strCache>
                <c:ptCount val="1"/>
                <c:pt idx="0">
                  <c:v>Distance_Time_Efficiency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9783-4C6D-B0F5-BC3DE61FB6F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9783-4C6D-B0F5-BC3DE61FB6F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9783-4C6D-B0F5-BC3DE61FB6F1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Table1!$A$2:$A$4</c:f>
              <c:strCache>
                <c:ptCount val="3"/>
                <c:pt idx="0">
                  <c:v>R003</c:v>
                </c:pt>
                <c:pt idx="1">
                  <c:v>R015</c:v>
                </c:pt>
                <c:pt idx="2">
                  <c:v>R008</c:v>
                </c:pt>
              </c:strCache>
            </c:strRef>
          </c:cat>
          <c:val>
            <c:numRef>
              <c:f>Table1!$B$2:$B$4</c:f>
              <c:numCache>
                <c:formatCode>General</c:formatCode>
                <c:ptCount val="3"/>
                <c:pt idx="0">
                  <c:v>14.7</c:v>
                </c:pt>
                <c:pt idx="1">
                  <c:v>21.56</c:v>
                </c:pt>
                <c:pt idx="2">
                  <c:v>36.1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83-4C6D-B0F5-BC3DE61FB6F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[Routes with grater than 20% Shipments Delayed Beyond Expected Transit Time.xml]Sheet2!PivotTable1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Routes with &gt;20% Shipments Delayed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Sheet2!$A$4:$A$24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Sheet2!$B$4:$B$24</c:f>
              <c:numCache>
                <c:formatCode>General</c:formatCode>
                <c:ptCount val="20"/>
                <c:pt idx="0">
                  <c:v>81.819999999999993</c:v>
                </c:pt>
                <c:pt idx="1">
                  <c:v>95.74</c:v>
                </c:pt>
                <c:pt idx="2">
                  <c:v>91.18</c:v>
                </c:pt>
                <c:pt idx="3">
                  <c:v>85.71</c:v>
                </c:pt>
                <c:pt idx="4">
                  <c:v>95.83</c:v>
                </c:pt>
                <c:pt idx="5">
                  <c:v>91.07</c:v>
                </c:pt>
                <c:pt idx="6">
                  <c:v>96.08</c:v>
                </c:pt>
                <c:pt idx="7">
                  <c:v>93.18</c:v>
                </c:pt>
                <c:pt idx="8">
                  <c:v>92.11</c:v>
                </c:pt>
                <c:pt idx="9">
                  <c:v>94.23</c:v>
                </c:pt>
                <c:pt idx="10">
                  <c:v>87.5</c:v>
                </c:pt>
                <c:pt idx="11">
                  <c:v>94.64</c:v>
                </c:pt>
                <c:pt idx="12">
                  <c:v>92</c:v>
                </c:pt>
                <c:pt idx="13">
                  <c:v>81.13</c:v>
                </c:pt>
                <c:pt idx="14">
                  <c:v>92.86</c:v>
                </c:pt>
                <c:pt idx="15">
                  <c:v>91.55</c:v>
                </c:pt>
                <c:pt idx="16">
                  <c:v>86.79</c:v>
                </c:pt>
                <c:pt idx="17">
                  <c:v>88.14</c:v>
                </c:pt>
                <c:pt idx="18">
                  <c:v>100</c:v>
                </c:pt>
                <c:pt idx="19">
                  <c:v>88.1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83-41AB-9B87-EE50557A91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679378751"/>
        <c:axId val="679370111"/>
      </c:barChart>
      <c:catAx>
        <c:axId val="67937875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Route_ID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370111"/>
        <c:crosses val="autoZero"/>
        <c:auto val="1"/>
        <c:lblAlgn val="ctr"/>
        <c:lblOffset val="100"/>
        <c:noMultiLvlLbl val="0"/>
      </c:catAx>
      <c:valAx>
        <c:axId val="679370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Delayed 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378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[Total Shipments vs Delayed Shipments (Per Warehouse).xml]Sheet4!PivotTable3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Total shipment vs Delayed Shipments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Sum of Total_Shipments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Sheet4!$A$4:$A$14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Sheet4!$B$4:$B$14</c:f>
              <c:numCache>
                <c:formatCode>General</c:formatCode>
                <c:ptCount val="10"/>
                <c:pt idx="0">
                  <c:v>103</c:v>
                </c:pt>
                <c:pt idx="1">
                  <c:v>97</c:v>
                </c:pt>
                <c:pt idx="2">
                  <c:v>107</c:v>
                </c:pt>
                <c:pt idx="3">
                  <c:v>90</c:v>
                </c:pt>
                <c:pt idx="4">
                  <c:v>102</c:v>
                </c:pt>
                <c:pt idx="5">
                  <c:v>99</c:v>
                </c:pt>
                <c:pt idx="6">
                  <c:v>96</c:v>
                </c:pt>
                <c:pt idx="7">
                  <c:v>112</c:v>
                </c:pt>
                <c:pt idx="8">
                  <c:v>91</c:v>
                </c:pt>
                <c:pt idx="9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8-4406-8116-8B4B79F31E9C}"/>
            </c:ext>
          </c:extLst>
        </c:ser>
        <c:ser>
          <c:idx val="1"/>
          <c:order val="1"/>
          <c:tx>
            <c:strRef>
              <c:f>Sheet4!$C$3</c:f>
              <c:strCache>
                <c:ptCount val="1"/>
                <c:pt idx="0">
                  <c:v>Sum of Delayed_Shipments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Sheet4!$A$4:$A$14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Sheet4!$C$4:$C$14</c:f>
              <c:numCache>
                <c:formatCode>General</c:formatCode>
                <c:ptCount val="10"/>
                <c:pt idx="0">
                  <c:v>96</c:v>
                </c:pt>
                <c:pt idx="1">
                  <c:v>91</c:v>
                </c:pt>
                <c:pt idx="2">
                  <c:v>100</c:v>
                </c:pt>
                <c:pt idx="3">
                  <c:v>85</c:v>
                </c:pt>
                <c:pt idx="4">
                  <c:v>94</c:v>
                </c:pt>
                <c:pt idx="5">
                  <c:v>94</c:v>
                </c:pt>
                <c:pt idx="6">
                  <c:v>94</c:v>
                </c:pt>
                <c:pt idx="7">
                  <c:v>100</c:v>
                </c:pt>
                <c:pt idx="8">
                  <c:v>84</c:v>
                </c:pt>
                <c:pt idx="9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D8-4406-8116-8B4B79F31E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49109567"/>
        <c:axId val="1449095647"/>
      </c:barChart>
      <c:catAx>
        <c:axId val="14491095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Warehouse_ID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095647"/>
        <c:crosses val="autoZero"/>
        <c:auto val="1"/>
        <c:lblAlgn val="ctr"/>
        <c:lblOffset val="100"/>
        <c:noMultiLvlLbl val="0"/>
      </c:catAx>
      <c:valAx>
        <c:axId val="1449095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Sum of shipments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109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Avg_Rating vs Avg_Experience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Table1!$A$2</c:f>
              <c:strCache>
                <c:ptCount val="1"/>
                <c:pt idx="0">
                  <c:v>Top 5 Agents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Table1!$B$1:$C$1</c:f>
              <c:strCache>
                <c:ptCount val="2"/>
                <c:pt idx="0">
                  <c:v>Avg_Rating</c:v>
                </c:pt>
                <c:pt idx="1">
                  <c:v>Avg_Experience</c:v>
                </c:pt>
              </c:strCache>
            </c:strRef>
          </c:cat>
          <c:val>
            <c:numRef>
              <c:f>Table1!$B$2:$C$2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68-4616-8BED-90F89EA11CB0}"/>
            </c:ext>
          </c:extLst>
        </c:ser>
        <c:ser>
          <c:idx val="1"/>
          <c:order val="1"/>
          <c:tx>
            <c:strRef>
              <c:f>Table1!$A$3</c:f>
              <c:strCache>
                <c:ptCount val="1"/>
                <c:pt idx="0">
                  <c:v>Bottom 5 Agents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cat>
            <c:strRef>
              <c:f>Table1!$B$1:$C$1</c:f>
              <c:strCache>
                <c:ptCount val="2"/>
                <c:pt idx="0">
                  <c:v>Avg_Rating</c:v>
                </c:pt>
                <c:pt idx="1">
                  <c:v>Avg_Experience</c:v>
                </c:pt>
              </c:strCache>
            </c:strRef>
          </c:cat>
          <c:val>
            <c:numRef>
              <c:f>Table1!$B$3:$C$3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68-4616-8BED-90F89EA11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1115258143"/>
        <c:axId val="1115239903"/>
        <c:axId val="0"/>
      </c:bar3DChart>
      <c:catAx>
        <c:axId val="1115258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Avg rating &amp; Avg experience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39903"/>
        <c:crosses val="autoZero"/>
        <c:auto val="1"/>
        <c:lblAlgn val="ctr"/>
        <c:lblOffset val="100"/>
        <c:noMultiLvlLbl val="0"/>
      </c:catAx>
      <c:valAx>
        <c:axId val="1115239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Agent_Group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58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Most Frequent Delay Reasons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cap="all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bg2">
            <a:lumMod val="75000"/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Table1!$E$1</c:f>
              <c:strCache>
                <c:ptCount val="1"/>
                <c:pt idx="0">
                  <c:v>Shipment_Count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Table1!$D$2:$D$5</c:f>
              <c:strCache>
                <c:ptCount val="4"/>
                <c:pt idx="0">
                  <c:v>Minor Delay</c:v>
                </c:pt>
                <c:pt idx="1">
                  <c:v>Severe Delay</c:v>
                </c:pt>
                <c:pt idx="2">
                  <c:v>Moderate Delay</c:v>
                </c:pt>
                <c:pt idx="3">
                  <c:v>No Delay</c:v>
                </c:pt>
              </c:strCache>
            </c:strRef>
          </c:cat>
          <c:val>
            <c:numRef>
              <c:f>Table1!$E$2:$E$5</c:f>
              <c:numCache>
                <c:formatCode>General</c:formatCode>
                <c:ptCount val="4"/>
                <c:pt idx="0">
                  <c:v>432</c:v>
                </c:pt>
                <c:pt idx="1">
                  <c:v>357</c:v>
                </c:pt>
                <c:pt idx="2">
                  <c:v>143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A-4674-BAF1-3BD7C21F90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gapDepth val="53"/>
        <c:shape val="box"/>
        <c:axId val="804537023"/>
        <c:axId val="804521183"/>
        <c:axId val="0"/>
      </c:bar3DChart>
      <c:catAx>
        <c:axId val="8045370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Delay_Category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4521183"/>
        <c:crosses val="autoZero"/>
        <c:auto val="1"/>
        <c:lblAlgn val="ctr"/>
        <c:lblOffset val="100"/>
        <c:noMultiLvlLbl val="0"/>
      </c:catAx>
      <c:valAx>
        <c:axId val="80452118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Shipment_Count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804537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[Orders with Exceptionally High Delay grater than120 Hours.xml]Sheet2!PivotTable1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Orders with exceptionally high delay (&gt;120 hours)</a:t>
            </a:r>
          </a:p>
        </c:rich>
      </c:tx>
      <c:layout>
        <c:manualLayout>
          <c:xMode val="edge"/>
          <c:yMode val="edge"/>
          <c:x val="0.18247900262467195"/>
          <c:y val="4.5275590551181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Sheet2!$A$4:$A$52</c:f>
              <c:strCache>
                <c:ptCount val="48"/>
                <c:pt idx="0">
                  <c:v>O0003</c:v>
                </c:pt>
                <c:pt idx="1">
                  <c:v>O0007</c:v>
                </c:pt>
                <c:pt idx="2">
                  <c:v>O0022</c:v>
                </c:pt>
                <c:pt idx="3">
                  <c:v>O0038</c:v>
                </c:pt>
                <c:pt idx="4">
                  <c:v>O0039</c:v>
                </c:pt>
                <c:pt idx="5">
                  <c:v>O0070</c:v>
                </c:pt>
                <c:pt idx="6">
                  <c:v>O0072</c:v>
                </c:pt>
                <c:pt idx="7">
                  <c:v>O0076</c:v>
                </c:pt>
                <c:pt idx="8">
                  <c:v>O0084</c:v>
                </c:pt>
                <c:pt idx="9">
                  <c:v>O0093</c:v>
                </c:pt>
                <c:pt idx="10">
                  <c:v>O0094</c:v>
                </c:pt>
                <c:pt idx="11">
                  <c:v>O0095</c:v>
                </c:pt>
                <c:pt idx="12">
                  <c:v>O0098</c:v>
                </c:pt>
                <c:pt idx="13">
                  <c:v>O0103</c:v>
                </c:pt>
                <c:pt idx="14">
                  <c:v>O0104</c:v>
                </c:pt>
                <c:pt idx="15">
                  <c:v>O0107</c:v>
                </c:pt>
                <c:pt idx="16">
                  <c:v>O0117</c:v>
                </c:pt>
                <c:pt idx="17">
                  <c:v>O0133</c:v>
                </c:pt>
                <c:pt idx="18">
                  <c:v>O0142</c:v>
                </c:pt>
                <c:pt idx="19">
                  <c:v>O0143</c:v>
                </c:pt>
                <c:pt idx="20">
                  <c:v>O0148</c:v>
                </c:pt>
                <c:pt idx="21">
                  <c:v>O0149</c:v>
                </c:pt>
                <c:pt idx="22">
                  <c:v>O0153</c:v>
                </c:pt>
                <c:pt idx="23">
                  <c:v>O0156</c:v>
                </c:pt>
                <c:pt idx="24">
                  <c:v>O0161</c:v>
                </c:pt>
                <c:pt idx="25">
                  <c:v>O0164</c:v>
                </c:pt>
                <c:pt idx="26">
                  <c:v>O0165</c:v>
                </c:pt>
                <c:pt idx="27">
                  <c:v>O0167</c:v>
                </c:pt>
                <c:pt idx="28">
                  <c:v>O0170</c:v>
                </c:pt>
                <c:pt idx="29">
                  <c:v>O0173</c:v>
                </c:pt>
                <c:pt idx="30">
                  <c:v>O0181</c:v>
                </c:pt>
                <c:pt idx="31">
                  <c:v>O0191</c:v>
                </c:pt>
                <c:pt idx="32">
                  <c:v>O0195</c:v>
                </c:pt>
                <c:pt idx="33">
                  <c:v>O0196</c:v>
                </c:pt>
                <c:pt idx="34">
                  <c:v>O0197</c:v>
                </c:pt>
                <c:pt idx="35">
                  <c:v>O0203</c:v>
                </c:pt>
                <c:pt idx="36">
                  <c:v>O0212</c:v>
                </c:pt>
                <c:pt idx="37">
                  <c:v>O0214</c:v>
                </c:pt>
                <c:pt idx="38">
                  <c:v>O0223</c:v>
                </c:pt>
                <c:pt idx="39">
                  <c:v>O0233</c:v>
                </c:pt>
                <c:pt idx="40">
                  <c:v>O0235</c:v>
                </c:pt>
                <c:pt idx="41">
                  <c:v>O0241</c:v>
                </c:pt>
                <c:pt idx="42">
                  <c:v>O0245</c:v>
                </c:pt>
                <c:pt idx="43">
                  <c:v>O0252</c:v>
                </c:pt>
                <c:pt idx="44">
                  <c:v>O0256</c:v>
                </c:pt>
                <c:pt idx="45">
                  <c:v>O0262</c:v>
                </c:pt>
                <c:pt idx="46">
                  <c:v>O0271</c:v>
                </c:pt>
                <c:pt idx="47">
                  <c:v>O0274</c:v>
                </c:pt>
              </c:strCache>
            </c:strRef>
          </c:cat>
          <c:val>
            <c:numRef>
              <c:f>Sheet2!$B$4:$B$52</c:f>
              <c:numCache>
                <c:formatCode>General</c:formatCode>
                <c:ptCount val="48"/>
                <c:pt idx="0">
                  <c:v>138.5</c:v>
                </c:pt>
                <c:pt idx="1">
                  <c:v>121.8</c:v>
                </c:pt>
                <c:pt idx="2">
                  <c:v>150</c:v>
                </c:pt>
                <c:pt idx="3">
                  <c:v>206.4</c:v>
                </c:pt>
                <c:pt idx="4">
                  <c:v>232.6</c:v>
                </c:pt>
                <c:pt idx="5">
                  <c:v>122.2</c:v>
                </c:pt>
                <c:pt idx="6">
                  <c:v>151.6</c:v>
                </c:pt>
                <c:pt idx="7">
                  <c:v>193.7</c:v>
                </c:pt>
                <c:pt idx="8">
                  <c:v>205.7</c:v>
                </c:pt>
                <c:pt idx="9">
                  <c:v>238.6</c:v>
                </c:pt>
                <c:pt idx="10">
                  <c:v>230.1</c:v>
                </c:pt>
                <c:pt idx="11">
                  <c:v>220.8</c:v>
                </c:pt>
                <c:pt idx="12">
                  <c:v>141.5</c:v>
                </c:pt>
                <c:pt idx="13">
                  <c:v>399.6</c:v>
                </c:pt>
                <c:pt idx="14">
                  <c:v>163.19999999999999</c:v>
                </c:pt>
                <c:pt idx="15">
                  <c:v>138.69999999999999</c:v>
                </c:pt>
                <c:pt idx="16">
                  <c:v>172.8</c:v>
                </c:pt>
                <c:pt idx="17">
                  <c:v>238.6</c:v>
                </c:pt>
                <c:pt idx="18">
                  <c:v>197.6</c:v>
                </c:pt>
                <c:pt idx="19">
                  <c:v>232.3</c:v>
                </c:pt>
                <c:pt idx="20">
                  <c:v>138.4</c:v>
                </c:pt>
                <c:pt idx="21">
                  <c:v>223</c:v>
                </c:pt>
                <c:pt idx="22">
                  <c:v>389.9</c:v>
                </c:pt>
                <c:pt idx="23">
                  <c:v>183.4</c:v>
                </c:pt>
                <c:pt idx="24">
                  <c:v>129</c:v>
                </c:pt>
                <c:pt idx="25">
                  <c:v>158.19999999999999</c:v>
                </c:pt>
                <c:pt idx="26">
                  <c:v>153.69999999999999</c:v>
                </c:pt>
                <c:pt idx="27">
                  <c:v>129.19999999999999</c:v>
                </c:pt>
                <c:pt idx="28">
                  <c:v>151.69999999999999</c:v>
                </c:pt>
                <c:pt idx="29">
                  <c:v>170.8</c:v>
                </c:pt>
                <c:pt idx="30">
                  <c:v>416.5</c:v>
                </c:pt>
                <c:pt idx="31">
                  <c:v>185.5</c:v>
                </c:pt>
                <c:pt idx="32">
                  <c:v>152.30000000000001</c:v>
                </c:pt>
                <c:pt idx="33">
                  <c:v>212.8</c:v>
                </c:pt>
                <c:pt idx="34">
                  <c:v>418</c:v>
                </c:pt>
                <c:pt idx="35">
                  <c:v>218</c:v>
                </c:pt>
                <c:pt idx="36">
                  <c:v>150.19999999999999</c:v>
                </c:pt>
                <c:pt idx="37">
                  <c:v>213.1</c:v>
                </c:pt>
                <c:pt idx="38">
                  <c:v>209.8</c:v>
                </c:pt>
                <c:pt idx="39">
                  <c:v>180.6</c:v>
                </c:pt>
                <c:pt idx="40">
                  <c:v>172.5</c:v>
                </c:pt>
                <c:pt idx="41">
                  <c:v>226.1</c:v>
                </c:pt>
                <c:pt idx="42">
                  <c:v>210.9</c:v>
                </c:pt>
                <c:pt idx="43">
                  <c:v>211.6</c:v>
                </c:pt>
                <c:pt idx="44">
                  <c:v>165.7</c:v>
                </c:pt>
                <c:pt idx="45">
                  <c:v>189.2</c:v>
                </c:pt>
                <c:pt idx="46">
                  <c:v>160</c:v>
                </c:pt>
                <c:pt idx="47">
                  <c:v>152.1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91-4107-97AF-76C6BC123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3216703"/>
        <c:axId val="1483209983"/>
      </c:barChart>
      <c:catAx>
        <c:axId val="1483216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>
                    <a:solidFill>
                      <a:srgbClr val="FF0000"/>
                    </a:solidFill>
                  </a:rPr>
                  <a:t>Order_ID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FF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209983"/>
        <c:crosses val="autoZero"/>
        <c:auto val="1"/>
        <c:lblAlgn val="ctr"/>
        <c:lblOffset val="100"/>
        <c:noMultiLvlLbl val="0"/>
      </c:catAx>
      <c:valAx>
        <c:axId val="1483209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alpha val="98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>
                    <a:solidFill>
                      <a:srgbClr val="FF0000"/>
                    </a:solidFill>
                  </a:rPr>
                  <a:t>Delay_Hours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rgbClr val="FF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216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[Average Delay (Hours) per Route_ID.xml]Sheet2!PivotTable1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delay (hours) per route_ID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3"/>
            </a:fgClr>
            <a:bgClr>
              <a:schemeClr val="lt1"/>
            </a:bgClr>
          </a:pattFill>
          <a:ln w="9525" cap="flat" cmpd="sng" algn="ctr">
            <a:noFill/>
            <a:miter lim="800000"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22225">
              <a:solidFill>
                <a:schemeClr val="lt1"/>
              </a:solidFill>
              <a:round/>
            </a:ln>
            <a:effectLst/>
          </c:spPr>
        </c:marker>
      </c:pivotFmt>
      <c:pivotFmt>
        <c:idx val="1"/>
        <c:spPr>
          <a:pattFill prst="ltUpDiag">
            <a:fgClr>
              <a:schemeClr val="accent3"/>
            </a:fgClr>
            <a:bgClr>
              <a:schemeClr val="lt1"/>
            </a:bgClr>
          </a:pattFill>
          <a:ln w="9525" cap="flat" cmpd="sng" algn="ctr">
            <a:noFill/>
            <a:miter lim="800000"/>
          </a:ln>
          <a:effectLst/>
        </c:spPr>
        <c:marker>
          <c:symbol val="none"/>
        </c:marker>
        <c:dLbl>
          <c:idx val="0"/>
          <c:spPr>
            <a:solidFill>
              <a:srgbClr val="196B2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3"/>
            </a:fgClr>
            <a:bgClr>
              <a:schemeClr val="lt1"/>
            </a:bgClr>
          </a:pattFill>
          <a:ln w="9525" cap="flat" cmpd="sng" algn="ctr">
            <a:noFill/>
            <a:miter lim="800000"/>
          </a:ln>
          <a:effectLst/>
        </c:spPr>
        <c:marker>
          <c:symbol val="none"/>
        </c:marker>
        <c:dLbl>
          <c:idx val="0"/>
          <c:spPr>
            <a:solidFill>
              <a:srgbClr val="196B2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3"/>
              </a:solidFill>
              <a:miter lim="800000"/>
            </a:ln>
            <a:effectLst>
              <a:glow rad="63500">
                <a:schemeClr val="accent3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Sheet2!$A$4:$A$24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Sheet2!$B$4:$B$24</c:f>
              <c:numCache>
                <c:formatCode>General</c:formatCode>
                <c:ptCount val="20"/>
                <c:pt idx="0">
                  <c:v>6.83</c:v>
                </c:pt>
                <c:pt idx="1">
                  <c:v>41.04</c:v>
                </c:pt>
                <c:pt idx="2">
                  <c:v>32.18</c:v>
                </c:pt>
                <c:pt idx="3">
                  <c:v>25.88</c:v>
                </c:pt>
                <c:pt idx="4">
                  <c:v>29.86</c:v>
                </c:pt>
                <c:pt idx="5">
                  <c:v>14.01</c:v>
                </c:pt>
                <c:pt idx="6">
                  <c:v>34.01</c:v>
                </c:pt>
                <c:pt idx="7">
                  <c:v>30.81</c:v>
                </c:pt>
                <c:pt idx="8">
                  <c:v>9.7200000000000006</c:v>
                </c:pt>
                <c:pt idx="9">
                  <c:v>20.25</c:v>
                </c:pt>
                <c:pt idx="10">
                  <c:v>22.64</c:v>
                </c:pt>
                <c:pt idx="11">
                  <c:v>13.89</c:v>
                </c:pt>
                <c:pt idx="12">
                  <c:v>11.95</c:v>
                </c:pt>
                <c:pt idx="13">
                  <c:v>20.97</c:v>
                </c:pt>
                <c:pt idx="14">
                  <c:v>15.19</c:v>
                </c:pt>
                <c:pt idx="15">
                  <c:v>14.89</c:v>
                </c:pt>
                <c:pt idx="16">
                  <c:v>19.27</c:v>
                </c:pt>
                <c:pt idx="17">
                  <c:v>25.83</c:v>
                </c:pt>
                <c:pt idx="18">
                  <c:v>13.91</c:v>
                </c:pt>
                <c:pt idx="19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FC-4604-B3B6-FA88E7BC7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1799893072"/>
        <c:axId val="1799876272"/>
      </c:barChart>
      <c:catAx>
        <c:axId val="179989307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Route_ID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876272"/>
        <c:crosses val="autoZero"/>
        <c:auto val="1"/>
        <c:lblAlgn val="ctr"/>
        <c:lblOffset val="100"/>
        <c:noMultiLvlLbl val="0"/>
      </c:catAx>
      <c:valAx>
        <c:axId val="17998762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Delay 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89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[Warehouse Utilization Percentage.xml]Sheet2!PivotTable1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Warehouse Utilisation 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Sheet2!$A$4:$A$14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Sheet2!$B$4:$B$14</c:f>
              <c:numCache>
                <c:formatCode>General</c:formatCode>
                <c:ptCount val="10"/>
                <c:pt idx="0">
                  <c:v>3.43</c:v>
                </c:pt>
                <c:pt idx="1">
                  <c:v>6.47</c:v>
                </c:pt>
                <c:pt idx="2">
                  <c:v>3.57</c:v>
                </c:pt>
                <c:pt idx="3">
                  <c:v>6</c:v>
                </c:pt>
                <c:pt idx="4">
                  <c:v>10.199999999999999</c:v>
                </c:pt>
                <c:pt idx="5">
                  <c:v>3.96</c:v>
                </c:pt>
                <c:pt idx="6">
                  <c:v>3.84</c:v>
                </c:pt>
                <c:pt idx="7">
                  <c:v>4.4800000000000004</c:v>
                </c:pt>
                <c:pt idx="8">
                  <c:v>3.03</c:v>
                </c:pt>
                <c:pt idx="9">
                  <c:v>10.3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F-49D3-97F7-DE807D9EEB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889880463"/>
        <c:axId val="889906863"/>
      </c:barChart>
      <c:catAx>
        <c:axId val="8898804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/>
                  <a:t>Warehouse_ID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906863"/>
        <c:crosses val="autoZero"/>
        <c:auto val="1"/>
        <c:lblAlgn val="ctr"/>
        <c:lblOffset val="100"/>
        <c:noMultiLvlLbl val="0"/>
      </c:catAx>
      <c:valAx>
        <c:axId val="889906863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/>
                  <a:t>Utilisatioin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88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Table1!$A$2:$A$18</cx:f>
        <cx:lvl ptCount="17">
          <cx:pt idx="0">UAE</cx:pt>
          <cx:pt idx="1">Turkey</cx:pt>
          <cx:pt idx="2">China</cx:pt>
          <cx:pt idx="3">Singapore</cx:pt>
          <cx:pt idx="4">UK</cx:pt>
          <cx:pt idx="5">France</cx:pt>
          <cx:pt idx="6">Brazil</cx:pt>
          <cx:pt idx="7">South Korea</cx:pt>
          <cx:pt idx="8">Spain</cx:pt>
          <cx:pt idx="9">USA</cx:pt>
          <cx:pt idx="10">Netherlands</cx:pt>
          <cx:pt idx="11">Belgium</cx:pt>
          <cx:pt idx="12">Germany</cx:pt>
          <cx:pt idx="13">South Africa</cx:pt>
          <cx:pt idx="14">Australia</cx:pt>
          <cx:pt idx="15">Japan</cx:pt>
          <cx:pt idx="16">Canada</cx:pt>
        </cx:lvl>
      </cx:strDim>
      <cx:numDim type="size">
        <cx:f>Table1!$B$2:$B$18</cx:f>
        <cx:lvl ptCount="17" formatCode="General">
          <cx:pt idx="0">41.039999999999999</cx:pt>
          <cx:pt idx="1">32.799999999999997</cx:pt>
          <cx:pt idx="2">32.530000000000001</cx:pt>
          <cx:pt idx="3">32.18</cx:pt>
          <cx:pt idx="4">29.859999999999999</cx:pt>
          <cx:pt idx="5">25.879999999999999</cx:pt>
          <cx:pt idx="6">25.829999999999998</cx:pt>
          <cx:pt idx="7">20.969999999999999</cx:pt>
          <cx:pt idx="8">19.27</cx:pt>
          <cx:pt idx="9">16.949999999999999</cx:pt>
          <cx:pt idx="10">15.19</cx:pt>
          <cx:pt idx="11">14.890000000000001</cx:pt>
          <cx:pt idx="12">14.01</cx:pt>
          <cx:pt idx="13">13.91</cx:pt>
          <cx:pt idx="14">13.890000000000001</cx:pt>
          <cx:pt idx="15">11.949999999999999</cx:pt>
          <cx:pt idx="16">9.7200000000000006</cx:pt>
        </cx:lvl>
      </cx:numDim>
    </cx:data>
  </cx:chartData>
  <cx:chart>
    <cx:title pos="t" align="ctr" overlay="0">
      <cx:tx>
        <cx:txData>
          <cx:v>Average Delivery delay per source country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1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Average Delivery delay per source country</a:t>
          </a:r>
        </a:p>
      </cx:txPr>
    </cx:title>
    <cx:plotArea>
      <cx:plotAreaRegion>
        <cx:series layoutId="treemap" uniqueId="{90970203-10C2-4D9A-8B4A-FE41C269EE61}">
          <cx:tx>
            <cx:txData>
              <cx:f>Table1!$B$1</cx:f>
              <cx:v>Avg_Delivery_Delay_Hours</cx:v>
            </cx:txData>
          </cx:tx>
          <cx:dataLabels pos="ctr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bg1"/>
                    </a:solidFill>
                  </a:defRPr>
                </a:pPr>
                <a:endParaRPr lang="en-GB" sz="1000" b="1" i="0" u="none" strike="noStrike" baseline="0">
                  <a:solidFill>
                    <a:schemeClr val="bg1"/>
                  </a:solidFill>
                  <a:latin typeface="Calibri" panose="020F0502020204030204"/>
                </a:endParaRPr>
              </a:p>
            </cx:txPr>
            <cx:visibility seriesName="0" categoryName="1" value="1"/>
            <cx:separator>, </cx:separator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900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9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18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416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330" b="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cap="all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1A4B8-E7B6-4818-8F28-DD687D6CF6B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B11BE-E3E8-4314-8921-D269F5BB6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2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B11BE-E3E8-4314-8921-D269F5BB6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32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B11BE-E3E8-4314-8921-D269F5BB64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53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6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6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5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0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3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1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7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0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9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9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AE57-938F-46AB-8402-3CA505F41BC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F70B9-5146-4970-91C2-C87FD414A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84578B-A3D8-9912-A036-A5E8B6151FD6}"/>
              </a:ext>
            </a:extLst>
          </p:cNvPr>
          <p:cNvSpPr txBox="1"/>
          <p:nvPr/>
        </p:nvSpPr>
        <p:spPr>
          <a:xfrm>
            <a:off x="468083" y="0"/>
            <a:ext cx="722811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solidFill>
                  <a:srgbClr val="FF0000"/>
                </a:solidFill>
                <a:latin typeface="Algerian" panose="04020705040A02060702" pitchFamily="82" charset="0"/>
              </a:rPr>
              <a:t>DHL Logistics Optimization &amp; Delivery 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C1C04-181B-17E2-ADF7-8A6410D29625}"/>
              </a:ext>
            </a:extLst>
          </p:cNvPr>
          <p:cNvSpPr txBox="1"/>
          <p:nvPr/>
        </p:nvSpPr>
        <p:spPr>
          <a:xfrm>
            <a:off x="6452337" y="3567896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Route, Warehouse &amp; Agent-Level Insights using SQL Analytics</a:t>
            </a:r>
          </a:p>
          <a:p>
            <a:endParaRPr lang="en-US"/>
          </a:p>
          <a:p>
            <a:r>
              <a:rPr lang="en-US" sz="2800" b="1">
                <a:solidFill>
                  <a:srgbClr val="FFFF00"/>
                </a:solidFill>
                <a:latin typeface="Algerian" panose="04020705040A02060702" pitchFamily="82" charset="0"/>
              </a:rPr>
              <a:t>Harivansh Dogne</a:t>
            </a:r>
          </a:p>
          <a:p>
            <a:r>
              <a:rPr lang="en-US" sz="2800" b="1">
                <a:solidFill>
                  <a:srgbClr val="FFFF00"/>
                </a:solidFill>
                <a:latin typeface="Algerian" panose="04020705040A02060702" pitchFamily="82" charset="0"/>
              </a:rPr>
              <a:t>Role: Data / Business Analyst</a:t>
            </a:r>
          </a:p>
          <a:p>
            <a:r>
              <a:rPr lang="en-US" sz="2800" b="1">
                <a:solidFill>
                  <a:srgbClr val="FFFF00"/>
                </a:solidFill>
                <a:latin typeface="Algerian" panose="04020705040A02060702" pitchFamily="82" charset="0"/>
              </a:rPr>
              <a:t>Tools: SQL, Excel, PowerPoint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210347-F867-87D9-94DC-BB911B023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825" b="6791"/>
          <a:stretch>
            <a:fillRect/>
          </a:stretch>
        </p:blipFill>
        <p:spPr>
          <a:xfrm>
            <a:off x="9182099" y="200639"/>
            <a:ext cx="2846615" cy="27540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7D9E98-B74D-9B8C-3ED7-7E36793C25C9}"/>
              </a:ext>
            </a:extLst>
          </p:cNvPr>
          <p:cNvSpPr txBox="1"/>
          <p:nvPr/>
        </p:nvSpPr>
        <p:spPr>
          <a:xfrm>
            <a:off x="118225" y="5748899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https://drive.google.com/file/d/1FjASsplIuuR0tmi2vntSJQGSVuLRBx1x/view?usp=drive_link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DB820E-503E-DCE5-BD0E-115A2900ACA3}"/>
              </a:ext>
            </a:extLst>
          </p:cNvPr>
          <p:cNvSpPr txBox="1"/>
          <p:nvPr/>
        </p:nvSpPr>
        <p:spPr>
          <a:xfrm>
            <a:off x="0" y="5022876"/>
            <a:ext cx="1823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Video Explaination Link-</a:t>
            </a:r>
          </a:p>
        </p:txBody>
      </p:sp>
    </p:spTree>
    <p:extLst>
      <p:ext uri="{BB962C8B-B14F-4D97-AF65-F5344CB8AC3E}">
        <p14:creationId xmlns:p14="http://schemas.microsoft.com/office/powerpoint/2010/main" val="1826780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B8B6A-941A-0D9A-8F00-4BCFF4C4BA88}"/>
              </a:ext>
            </a:extLst>
          </p:cNvPr>
          <p:cNvSpPr txBox="1"/>
          <p:nvPr/>
        </p:nvSpPr>
        <p:spPr>
          <a:xfrm>
            <a:off x="3048000" y="653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1E5BA-6FBE-D4D8-ED91-D027859A9E73}"/>
              </a:ext>
            </a:extLst>
          </p:cNvPr>
          <p:cNvSpPr txBox="1"/>
          <p:nvPr/>
        </p:nvSpPr>
        <p:spPr>
          <a:xfrm>
            <a:off x="1268185" y="1951672"/>
            <a:ext cx="10444844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DHL faces recurring delivery delays and SLA breaches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Delays impact customer satisfaction and operational cost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Lack of visibility into route, warehouse, and agent-level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Key Question: How can data be used to identify delay drivers and optimize logistics operations?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00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8FD635-87A4-E812-E161-2658C23E2D15}"/>
              </a:ext>
            </a:extLst>
          </p:cNvPr>
          <p:cNvSpPr txBox="1"/>
          <p:nvPr/>
        </p:nvSpPr>
        <p:spPr>
          <a:xfrm>
            <a:off x="2242456" y="1067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40422-0953-40C2-6725-2DC5F69C2938}"/>
              </a:ext>
            </a:extLst>
          </p:cNvPr>
          <p:cNvSpPr txBox="1"/>
          <p:nvPr/>
        </p:nvSpPr>
        <p:spPr>
          <a:xfrm>
            <a:off x="2264228" y="195167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high-delay routes and inefficient transit path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warehouse performance and capacity utilization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delivery agent on-time performance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shipment bottlenecks and exception delays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optimization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9214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FEDCC-75D8-59AF-C086-2C866F3721D0}"/>
              </a:ext>
            </a:extLst>
          </p:cNvPr>
          <p:cNvSpPr txBox="1"/>
          <p:nvPr/>
        </p:nvSpPr>
        <p:spPr>
          <a:xfrm>
            <a:off x="4310743" y="50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74AF8-FEEE-59AD-CB6E-147BEFED6FC5}"/>
              </a:ext>
            </a:extLst>
          </p:cNvPr>
          <p:cNvSpPr txBox="1"/>
          <p:nvPr/>
        </p:nvSpPr>
        <p:spPr>
          <a:xfrm>
            <a:off x="555171" y="1579993"/>
            <a:ext cx="1062445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Order_ID, Customer_ID,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delivery_Type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Warehouse_ID,Order_Amount,Payment_Mode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Order_ID,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Delivery_Feedback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Delay_Reason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Expected_Delivery_Date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Capacity_per_day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Manager_Name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Source_City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Source_Country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Destination_City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Distance_KM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Agents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Agent_Name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Zone,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Zone_Country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Experience_Years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Avg_Rating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2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21A4-1274-8B54-40AD-FDD5C953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011"/>
            <a:ext cx="10515600" cy="1325563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Data Cleaning &amp;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FED50-15B0-B657-1014-A9D4F92D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delete duplicate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records.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Replace null or missing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values in the Shipments Table with the average delay for that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Convert all date columns 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into YYYY-MM-DD HH:MM:SS format using SQL   date functions.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Ensure that no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occurs before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(flag such records).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 referential integrity between Orders, Routes, Warehouses, and Shipments. </a:t>
            </a:r>
          </a:p>
        </p:txBody>
      </p:sp>
    </p:spTree>
    <p:extLst>
      <p:ext uri="{BB962C8B-B14F-4D97-AF65-F5344CB8AC3E}">
        <p14:creationId xmlns:p14="http://schemas.microsoft.com/office/powerpoint/2010/main" val="1485434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3A109E-D5FA-A72B-C438-0AF17A7FA65D}"/>
              </a:ext>
            </a:extLst>
          </p:cNvPr>
          <p:cNvSpPr txBox="1"/>
          <p:nvPr/>
        </p:nvSpPr>
        <p:spPr>
          <a:xfrm>
            <a:off x="130628" y="2796228"/>
            <a:ext cx="79792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Duplicate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COUNT(*)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dhl_orders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validation queries were executed for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00C70-2917-B26E-B898-3FBE07A5CA4E}"/>
              </a:ext>
            </a:extLst>
          </p:cNvPr>
          <p:cNvSpPr txBox="1"/>
          <p:nvPr/>
        </p:nvSpPr>
        <p:spPr>
          <a:xfrm>
            <a:off x="130628" y="117169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Invalid delivery date check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59816-D839-0C62-F257-9062A07A8574}"/>
              </a:ext>
            </a:extLst>
          </p:cNvPr>
          <p:cNvSpPr/>
          <p:nvPr/>
        </p:nvSpPr>
        <p:spPr>
          <a:xfrm>
            <a:off x="0" y="0"/>
            <a:ext cx="596537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CD25AD-87E6-10F2-C42B-054DCE171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789255"/>
              </p:ext>
            </p:extLst>
          </p:nvPr>
        </p:nvGraphicFramePr>
        <p:xfrm>
          <a:off x="5943600" y="1206136"/>
          <a:ext cx="6117771" cy="238615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85881">
                  <a:extLst>
                    <a:ext uri="{9D8B030D-6E8A-4147-A177-3AD203B41FA5}">
                      <a16:colId xmlns:a16="http://schemas.microsoft.com/office/drawing/2014/main" val="658160801"/>
                    </a:ext>
                  </a:extLst>
                </a:gridCol>
                <a:gridCol w="3131890">
                  <a:extLst>
                    <a:ext uri="{9D8B030D-6E8A-4147-A177-3AD203B41FA5}">
                      <a16:colId xmlns:a16="http://schemas.microsoft.com/office/drawing/2014/main" val="1986113275"/>
                    </a:ext>
                  </a:extLst>
                </a:gridCol>
              </a:tblGrid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Check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122384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</a:t>
                      </a:r>
                      <a:r>
                        <a:rPr lang="en-US"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duplicates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164883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Duplicate </a:t>
                      </a:r>
                      <a:r>
                        <a:rPr lang="en-US"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Shipment_ID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duplicates found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564091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 </a:t>
                      </a:r>
                      <a:r>
                        <a:rPr lang="en-US" sz="16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Delay_Hours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&amp; handled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582853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Delivery&lt;Pickup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invalid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08377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Order-Shipment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41281"/>
                  </a:ext>
                </a:extLst>
              </a:tr>
              <a:tr h="340879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Route-Shipment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455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10AB51-9E50-EFC1-0CD5-9E640ED6806C}"/>
              </a:ext>
            </a:extLst>
          </p:cNvPr>
          <p:cNvSpPr txBox="1"/>
          <p:nvPr/>
        </p:nvSpPr>
        <p:spPr>
          <a:xfrm>
            <a:off x="130628" y="5005533"/>
            <a:ext cx="100148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datasets passed consistency and integrity checks, ensuring reliable downstream analysis.</a:t>
            </a:r>
          </a:p>
        </p:txBody>
      </p:sp>
    </p:spTree>
    <p:extLst>
      <p:ext uri="{BB962C8B-B14F-4D97-AF65-F5344CB8AC3E}">
        <p14:creationId xmlns:p14="http://schemas.microsoft.com/office/powerpoint/2010/main" val="46149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9C39AF-8729-3206-0F6D-1C23F06CAA51}"/>
              </a:ext>
            </a:extLst>
          </p:cNvPr>
          <p:cNvSpPr/>
          <p:nvPr/>
        </p:nvSpPr>
        <p:spPr>
          <a:xfrm>
            <a:off x="4441371" y="-43543"/>
            <a:ext cx="3396343" cy="6422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Queries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B508CA-AB7F-6884-F9F3-4C8ED5CFA98D}"/>
              </a:ext>
            </a:extLst>
          </p:cNvPr>
          <p:cNvCxnSpPr>
            <a:stCxn id="4" idx="2"/>
          </p:cNvCxnSpPr>
          <p:nvPr/>
        </p:nvCxnSpPr>
        <p:spPr>
          <a:xfrm flipH="1">
            <a:off x="6139542" y="598714"/>
            <a:ext cx="1" cy="6368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E95389-954F-B0F9-998D-155E8F8476C0}"/>
              </a:ext>
            </a:extLst>
          </p:cNvPr>
          <p:cNvSpPr txBox="1"/>
          <p:nvPr/>
        </p:nvSpPr>
        <p:spPr>
          <a:xfrm>
            <a:off x="209551" y="183216"/>
            <a:ext cx="26996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5AED4F-A157-CDDA-D0AA-C59E4457EA04}"/>
              </a:ext>
            </a:extLst>
          </p:cNvPr>
          <p:cNvSpPr txBox="1"/>
          <p:nvPr/>
        </p:nvSpPr>
        <p:spPr>
          <a:xfrm>
            <a:off x="0" y="4471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Check duplicate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32BFF-0B5E-F8D7-FAD7-4279D61FA659}"/>
              </a:ext>
            </a:extLst>
          </p:cNvPr>
          <p:cNvSpPr txBox="1"/>
          <p:nvPr/>
        </p:nvSpPr>
        <p:spPr>
          <a:xfrm>
            <a:off x="43542" y="167577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Replace NULL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Route Average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692CFF-798F-7744-8BED-4A675FAB0FEC}"/>
              </a:ext>
            </a:extLst>
          </p:cNvPr>
          <p:cNvSpPr txBox="1"/>
          <p:nvPr/>
        </p:nvSpPr>
        <p:spPr>
          <a:xfrm>
            <a:off x="209551" y="211286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11F6F4-96BA-18E9-AE99-CB6C2631F825}"/>
              </a:ext>
            </a:extLst>
          </p:cNvPr>
          <p:cNvSpPr txBox="1"/>
          <p:nvPr/>
        </p:nvSpPr>
        <p:spPr>
          <a:xfrm>
            <a:off x="163282" y="3673342"/>
            <a:ext cx="6281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dhl_orders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 5;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 5;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6AFA4-C488-CA1D-2CEF-FB727A12A38C}"/>
              </a:ext>
            </a:extLst>
          </p:cNvPr>
          <p:cNvSpPr txBox="1"/>
          <p:nvPr/>
        </p:nvSpPr>
        <p:spPr>
          <a:xfrm>
            <a:off x="43542" y="330232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--Convert Date Columns to YYYY-MM-DD HH:MM:SS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E042CC-2453-4403-DF7D-3F2DBD7D33DC}"/>
              </a:ext>
            </a:extLst>
          </p:cNvPr>
          <p:cNvSpPr txBox="1"/>
          <p:nvPr/>
        </p:nvSpPr>
        <p:spPr>
          <a:xfrm>
            <a:off x="-43541" y="456612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--Ensure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before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6E9703-3EA0-6434-B10C-A13B64D72020}"/>
              </a:ext>
            </a:extLst>
          </p:cNvPr>
          <p:cNvSpPr txBox="1"/>
          <p:nvPr/>
        </p:nvSpPr>
        <p:spPr>
          <a:xfrm>
            <a:off x="163282" y="5088956"/>
            <a:ext cx="6117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A4513D-B23A-81A1-C2CB-B7BA93E9D6B4}"/>
              </a:ext>
            </a:extLst>
          </p:cNvPr>
          <p:cNvSpPr txBox="1"/>
          <p:nvPr/>
        </p:nvSpPr>
        <p:spPr>
          <a:xfrm>
            <a:off x="8390164" y="72516"/>
            <a:ext cx="6221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--Validate Referential Integrity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6C3060-CC37-3B0C-B3F0-7BBD54EC1079}"/>
              </a:ext>
            </a:extLst>
          </p:cNvPr>
          <p:cNvSpPr txBox="1"/>
          <p:nvPr/>
        </p:nvSpPr>
        <p:spPr>
          <a:xfrm>
            <a:off x="7924797" y="485782"/>
            <a:ext cx="6428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Shipments exists in Orders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FB31C7-156B-359B-DE86-7D0E78649906}"/>
              </a:ext>
            </a:extLst>
          </p:cNvPr>
          <p:cNvSpPr txBox="1"/>
          <p:nvPr/>
        </p:nvSpPr>
        <p:spPr>
          <a:xfrm>
            <a:off x="7704364" y="899048"/>
            <a:ext cx="6531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dhl_orders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BFDF62-A396-F6B0-50A8-27BCB2A8CD47}"/>
              </a:ext>
            </a:extLst>
          </p:cNvPr>
          <p:cNvSpPr txBox="1"/>
          <p:nvPr/>
        </p:nvSpPr>
        <p:spPr>
          <a:xfrm>
            <a:off x="6882492" y="2492044"/>
            <a:ext cx="7353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Shipments exists in Routes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8A44F9-BD68-E0DE-3C98-71E6B7F57D17}"/>
              </a:ext>
            </a:extLst>
          </p:cNvPr>
          <p:cNvSpPr txBox="1"/>
          <p:nvPr/>
        </p:nvSpPr>
        <p:spPr>
          <a:xfrm>
            <a:off x="7704364" y="2767280"/>
            <a:ext cx="7353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dhl_routes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35B854-B092-9FF0-D11D-4B884442BEAF}"/>
              </a:ext>
            </a:extLst>
          </p:cNvPr>
          <p:cNvSpPr txBox="1"/>
          <p:nvPr/>
        </p:nvSpPr>
        <p:spPr>
          <a:xfrm>
            <a:off x="6444337" y="4566126"/>
            <a:ext cx="7576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Shipments exists in Warehouses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32DF20-A289-C6AD-772B-5AAC87D67243}"/>
              </a:ext>
            </a:extLst>
          </p:cNvPr>
          <p:cNvSpPr txBox="1"/>
          <p:nvPr/>
        </p:nvSpPr>
        <p:spPr>
          <a:xfrm>
            <a:off x="7671706" y="5055040"/>
            <a:ext cx="75764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s.*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dhl_warehouses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NULL;</a:t>
            </a:r>
          </a:p>
        </p:txBody>
      </p:sp>
    </p:spTree>
    <p:extLst>
      <p:ext uri="{BB962C8B-B14F-4D97-AF65-F5344CB8AC3E}">
        <p14:creationId xmlns:p14="http://schemas.microsoft.com/office/powerpoint/2010/main" val="3913485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904A-6DA7-C29C-6F92-5C7C0555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Delivery Delay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5F7D2-3CF6-FA14-0975-8778BAB88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delivery delay (in hours) for each shipment using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 the Top 10 delayed routes based on average delay hours.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 SQL window functions to rank shipments by delay within each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average delay per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Delivery_Type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(Express / Standard) to compare service-level efficiency. </a:t>
            </a:r>
          </a:p>
        </p:txBody>
      </p:sp>
    </p:spTree>
    <p:extLst>
      <p:ext uri="{BB962C8B-B14F-4D97-AF65-F5344CB8AC3E}">
        <p14:creationId xmlns:p14="http://schemas.microsoft.com/office/powerpoint/2010/main" val="312355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A9DF58C-2B50-04C4-8E67-0893B175E9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1026047"/>
              </p:ext>
            </p:extLst>
          </p:nvPr>
        </p:nvGraphicFramePr>
        <p:xfrm>
          <a:off x="6471558" y="141513"/>
          <a:ext cx="5633341" cy="5823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63CF06-D68E-94F1-D3DE-18359A823B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570872"/>
              </p:ext>
            </p:extLst>
          </p:nvPr>
        </p:nvGraphicFramePr>
        <p:xfrm>
          <a:off x="293914" y="497766"/>
          <a:ext cx="5091791" cy="5075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9A10A5-096C-3758-92A9-3D83740D617D}"/>
              </a:ext>
            </a:extLst>
          </p:cNvPr>
          <p:cNvCxnSpPr>
            <a:cxnSpLocks/>
          </p:cNvCxnSpPr>
          <p:nvPr/>
        </p:nvCxnSpPr>
        <p:spPr>
          <a:xfrm>
            <a:off x="6215743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79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CB233D17-5A10-4582-8B89-29742600AAC0}"/>
              </a:ext>
            </a:extLst>
          </p:cNvPr>
          <p:cNvSpPr/>
          <p:nvPr/>
        </p:nvSpPr>
        <p:spPr>
          <a:xfrm>
            <a:off x="4332515" y="-130629"/>
            <a:ext cx="3733800" cy="26125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SQL Query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8D16F8-E12E-89B9-E360-B4C116996052}"/>
              </a:ext>
            </a:extLst>
          </p:cNvPr>
          <p:cNvCxnSpPr/>
          <p:nvPr/>
        </p:nvCxnSpPr>
        <p:spPr>
          <a:xfrm>
            <a:off x="0" y="3331029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F5BB80-A9EB-4569-768D-2C5BE3256B31}"/>
              </a:ext>
            </a:extLst>
          </p:cNvPr>
          <p:cNvCxnSpPr>
            <a:cxnSpLocks/>
          </p:cNvCxnSpPr>
          <p:nvPr/>
        </p:nvCxnSpPr>
        <p:spPr>
          <a:xfrm>
            <a:off x="6379029" y="182082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423429D-E7FD-8199-8934-0F4A83F34081}"/>
              </a:ext>
            </a:extLst>
          </p:cNvPr>
          <p:cNvSpPr txBox="1"/>
          <p:nvPr/>
        </p:nvSpPr>
        <p:spPr>
          <a:xfrm>
            <a:off x="0" y="366346"/>
            <a:ext cx="62865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Calculate Delivery Delay (in hours) for each Shipment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TIMESTAMPDIFF(HOUR,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              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Calculated_Delay_Hours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FROM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617E5-F0E8-0D12-A524-6D670EFC81D5}"/>
              </a:ext>
            </a:extLst>
          </p:cNvPr>
          <p:cNvSpPr txBox="1"/>
          <p:nvPr/>
        </p:nvSpPr>
        <p:spPr>
          <a:xfrm>
            <a:off x="84365" y="3799737"/>
            <a:ext cx="61177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--Rank Shipments by Delay within Each Warehouse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PARTITION BY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ORDER BY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Delay_Rank_In_Warehouse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362E3-70FD-38C7-C70D-3AE01485729E}"/>
              </a:ext>
            </a:extLst>
          </p:cNvPr>
          <p:cNvSpPr txBox="1"/>
          <p:nvPr/>
        </p:nvSpPr>
        <p:spPr>
          <a:xfrm>
            <a:off x="7072996" y="369407"/>
            <a:ext cx="6117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--Top 10 Delayed Routes (Based on Average Delay)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FFB0D-DB35-A7A0-BC66-A2FF5558B5DB}"/>
              </a:ext>
            </a:extLst>
          </p:cNvPr>
          <p:cNvSpPr txBox="1"/>
          <p:nvPr/>
        </p:nvSpPr>
        <p:spPr>
          <a:xfrm>
            <a:off x="6555924" y="830997"/>
            <a:ext cx="66348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ROUND(AVG(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10;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95BD1-D401-CF55-0C52-17F3FD1D9B42}"/>
              </a:ext>
            </a:extLst>
          </p:cNvPr>
          <p:cNvSpPr txBox="1"/>
          <p:nvPr/>
        </p:nvSpPr>
        <p:spPr>
          <a:xfrm>
            <a:off x="7573737" y="3799737"/>
            <a:ext cx="66348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--Average Delay per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Delivery_Type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2C73F-3ED4-C087-2004-DAE78227427D}"/>
              </a:ext>
            </a:extLst>
          </p:cNvPr>
          <p:cNvSpPr txBox="1"/>
          <p:nvPr/>
        </p:nvSpPr>
        <p:spPr>
          <a:xfrm>
            <a:off x="6730093" y="4281065"/>
            <a:ext cx="71247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o.Delivery_Type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ROUND(AVG(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dhl_orders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s.Order_ID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o.Order_ID</a:t>
            </a:r>
            <a:endParaRPr lang="en-US" sz="16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o.Delivery_Type</a:t>
            </a:r>
            <a:r>
              <a:rPr lang="en-US" sz="16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4060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5736-5A4A-89A6-4136-1E83B2D5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3: Route Optimization Insights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B459-00C7-DA73-7A35-8CF84D84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route, calculate: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transit time (in hours) across all shipments.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Average delay (in hours) per route.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Distance-to-time efficiency ratio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Distance_KM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3 routes with the worst efficiency ratio (lowest distance-to-time).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routes with &gt;20% of shipments delayed beyond expected transit time.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potential routes or hub pairs for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979878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6FD985-C205-B285-48D9-28D87B586371}"/>
              </a:ext>
            </a:extLst>
          </p:cNvPr>
          <p:cNvCxnSpPr/>
          <p:nvPr/>
        </p:nvCxnSpPr>
        <p:spPr>
          <a:xfrm>
            <a:off x="380999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1387E0-9F0F-5D1A-25D3-77FD4BB4D9EE}"/>
              </a:ext>
            </a:extLst>
          </p:cNvPr>
          <p:cNvCxnSpPr/>
          <p:nvPr/>
        </p:nvCxnSpPr>
        <p:spPr>
          <a:xfrm>
            <a:off x="814251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9D0677-9498-57F4-FDB4-5101A32CFBCB}"/>
              </a:ext>
            </a:extLst>
          </p:cNvPr>
          <p:cNvCxnSpPr/>
          <p:nvPr/>
        </p:nvCxnSpPr>
        <p:spPr>
          <a:xfrm>
            <a:off x="0" y="3320143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DB67F2-AA0E-9BAE-5A52-CF5B7048AA46}"/>
              </a:ext>
            </a:extLst>
          </p:cNvPr>
          <p:cNvSpPr txBox="1"/>
          <p:nvPr/>
        </p:nvSpPr>
        <p:spPr>
          <a:xfrm>
            <a:off x="0" y="598243"/>
            <a:ext cx="61014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Transit Time (Hours) per Route</a:t>
            </a:r>
          </a:p>
          <a:p>
            <a:r>
              <a:rPr lang="en-US" sz="1600" i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(Across all shipments)</a:t>
            </a:r>
            <a:endParaRPr lang="en-US" sz="160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</a:t>
            </a: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ROUND(AVG(TIMESTAMPDIFF(HOUR,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)), 2) </a:t>
            </a: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Avg_Transit_Time_Hours</a:t>
            </a:r>
            <a:endParaRPr lang="en-US" sz="1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 BY </a:t>
            </a:r>
            <a:r>
              <a:rPr lang="en-US" sz="120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2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C5DCC55-B65E-0ED9-F7D2-9EBD8EB642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9465775"/>
              </p:ext>
            </p:extLst>
          </p:nvPr>
        </p:nvGraphicFramePr>
        <p:xfrm>
          <a:off x="3913415" y="201387"/>
          <a:ext cx="4125683" cy="2917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D04DF61-8391-F8DF-6B70-C7FAD8852F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8848233"/>
              </p:ext>
            </p:extLst>
          </p:nvPr>
        </p:nvGraphicFramePr>
        <p:xfrm>
          <a:off x="3913415" y="3562347"/>
          <a:ext cx="4125683" cy="302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2F8CA43A-D675-F389-E6AC-4A20A5C75042}"/>
              </a:ext>
            </a:extLst>
          </p:cNvPr>
          <p:cNvSpPr/>
          <p:nvPr/>
        </p:nvSpPr>
        <p:spPr>
          <a:xfrm>
            <a:off x="8245920" y="174519"/>
            <a:ext cx="3298359" cy="25853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 routes with worst efficiency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51F0CD88-B42F-AE6D-C176-CA9471F357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69090"/>
              </p:ext>
            </p:extLst>
          </p:nvPr>
        </p:nvGraphicFramePr>
        <p:xfrm>
          <a:off x="8245920" y="542933"/>
          <a:ext cx="3603173" cy="253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223C4F0-38F4-F6F0-473F-D257A888BF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8306300"/>
              </p:ext>
            </p:extLst>
          </p:nvPr>
        </p:nvGraphicFramePr>
        <p:xfrm>
          <a:off x="8245920" y="3654883"/>
          <a:ext cx="3794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3CF3027-338E-1DD2-DC22-DAEA3754CB24}"/>
              </a:ext>
            </a:extLst>
          </p:cNvPr>
          <p:cNvSpPr txBox="1"/>
          <p:nvPr/>
        </p:nvSpPr>
        <p:spPr>
          <a:xfrm>
            <a:off x="70763" y="3600454"/>
            <a:ext cx="35541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>
                <a:solidFill>
                  <a:srgbClr val="7030A0"/>
                </a:solidFill>
              </a:rPr>
              <a:t>Optimization Recommendations</a:t>
            </a:r>
          </a:p>
          <a:p>
            <a:pPr>
              <a:buNone/>
            </a:pPr>
            <a:r>
              <a:rPr lang="en-US" sz="1200" b="1">
                <a:solidFill>
                  <a:srgbClr val="7030A0"/>
                </a:solidFill>
              </a:rPr>
              <a:t>🔹 Route-Level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Alternate routing during peak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Dynamic route reassignment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Night-time dispatch for long-haul routes</a:t>
            </a:r>
          </a:p>
          <a:p>
            <a:pPr>
              <a:buNone/>
            </a:pPr>
            <a:r>
              <a:rPr lang="en-US" sz="1200" b="1">
                <a:solidFill>
                  <a:srgbClr val="7030A0"/>
                </a:solidFill>
              </a:rPr>
              <a:t>🔹 Hub-Pair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Shift volume from overloaded hubs to nearby secondary hubs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Improve customs pre-clearance at international hubs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Add buffer time for historically slow routes</a:t>
            </a:r>
          </a:p>
          <a:p>
            <a:pPr>
              <a:buNone/>
            </a:pPr>
            <a:r>
              <a:rPr lang="en-US" sz="1200" b="1">
                <a:solidFill>
                  <a:srgbClr val="7030A0"/>
                </a:solidFill>
              </a:rPr>
              <a:t>🔹 Data-Driven 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Real-time delay monitoring dashboards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Predictive delay alerts using historical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7030A0"/>
                </a:solidFill>
              </a:rPr>
              <a:t>SLA renegotiation for underperforming routes</a:t>
            </a:r>
          </a:p>
        </p:txBody>
      </p:sp>
    </p:spTree>
    <p:extLst>
      <p:ext uri="{BB962C8B-B14F-4D97-AF65-F5344CB8AC3E}">
        <p14:creationId xmlns:p14="http://schemas.microsoft.com/office/powerpoint/2010/main" val="3644086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2AA06E-2F1E-2623-37EC-9638493DD4FB}"/>
              </a:ext>
            </a:extLst>
          </p:cNvPr>
          <p:cNvSpPr/>
          <p:nvPr/>
        </p:nvSpPr>
        <p:spPr>
          <a:xfrm>
            <a:off x="5212082" y="-1"/>
            <a:ext cx="1569719" cy="3592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SQL Queries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8CD49-79D2-A149-4110-A3B5C1605521}"/>
              </a:ext>
            </a:extLst>
          </p:cNvPr>
          <p:cNvSpPr txBox="1"/>
          <p:nvPr/>
        </p:nvSpPr>
        <p:spPr>
          <a:xfrm>
            <a:off x="227514" y="1137386"/>
            <a:ext cx="513805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SUM(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TIMESTAMPDIFF(HOUR,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s.Pickup_Date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s.Delivery_Date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&gt;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r.Avg_Transit_Time_Hours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THEN 1 ELSE 0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Delayed_Shipments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TIMESTAMPDIFF(HOUR,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s.Pickup_Date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s.Delivery_Date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&gt;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r.Avg_Transit_Time_Hours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THEN 1 ELSE 0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100.0 / COUNT(*),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Delay_Percentage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dhl_routes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Delay_Percentage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20;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EB390-6AF2-6355-7CD8-BCEDB0672C05}"/>
              </a:ext>
            </a:extLst>
          </p:cNvPr>
          <p:cNvSpPr txBox="1"/>
          <p:nvPr/>
        </p:nvSpPr>
        <p:spPr>
          <a:xfrm>
            <a:off x="97972" y="63741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with &gt;20% Shipments Delayed Beyond Expected Transit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6843C-68D2-3D15-F257-5BB611D28479}"/>
              </a:ext>
            </a:extLst>
          </p:cNvPr>
          <p:cNvSpPr txBox="1"/>
          <p:nvPr/>
        </p:nvSpPr>
        <p:spPr>
          <a:xfrm>
            <a:off x="6585857" y="63741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3 Routes with Worst Efficiency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CA631-DBBD-BFAE-925E-EC2A9C09751E}"/>
              </a:ext>
            </a:extLst>
          </p:cNvPr>
          <p:cNvSpPr txBox="1"/>
          <p:nvPr/>
        </p:nvSpPr>
        <p:spPr>
          <a:xfrm>
            <a:off x="6585857" y="1137386"/>
            <a:ext cx="634092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r.Distance_KM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rt.Avg_Transit_Time_Hours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Distance_Time_Efficiency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dhl_routes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(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AVG(TIMESTAMPDIFF(HOUR,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Avg_Transit_Time_Hours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GROUP BY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rt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rt.Route_ID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Distance_Time_Efficiency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ASC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8401D7-F2E4-C11C-CFE6-6A492BF25E80}"/>
              </a:ext>
            </a:extLst>
          </p:cNvPr>
          <p:cNvCxnSpPr>
            <a:stCxn id="4" idx="2"/>
          </p:cNvCxnSpPr>
          <p:nvPr/>
        </p:nvCxnSpPr>
        <p:spPr>
          <a:xfrm>
            <a:off x="5996942" y="359228"/>
            <a:ext cx="22858" cy="6498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66C615-C96C-7B91-EDE2-E7146DBAA3F3}"/>
              </a:ext>
            </a:extLst>
          </p:cNvPr>
          <p:cNvCxnSpPr>
            <a:stCxn id="4" idx="1"/>
          </p:cNvCxnSpPr>
          <p:nvPr/>
        </p:nvCxnSpPr>
        <p:spPr>
          <a:xfrm flipH="1">
            <a:off x="0" y="179614"/>
            <a:ext cx="5212082" cy="5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316E70-5021-1C5F-7CE5-D05A314C26DE}"/>
              </a:ext>
            </a:extLst>
          </p:cNvPr>
          <p:cNvCxnSpPr>
            <a:stCxn id="4" idx="3"/>
          </p:cNvCxnSpPr>
          <p:nvPr/>
        </p:nvCxnSpPr>
        <p:spPr>
          <a:xfrm>
            <a:off x="6781801" y="179614"/>
            <a:ext cx="5410199" cy="5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83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22CBE9-5AF6-36C0-62FA-C11114C01E41}"/>
              </a:ext>
            </a:extLst>
          </p:cNvPr>
          <p:cNvSpPr txBox="1"/>
          <p:nvPr/>
        </p:nvSpPr>
        <p:spPr>
          <a:xfrm>
            <a:off x="598714" y="849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Distance-to-Time Efficiency Ratio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850A0-973C-0720-F2F5-8104B187EC2A}"/>
              </a:ext>
            </a:extLst>
          </p:cNvPr>
          <p:cNvSpPr txBox="1"/>
          <p:nvPr/>
        </p:nvSpPr>
        <p:spPr>
          <a:xfrm>
            <a:off x="468086" y="1662729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route_transit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(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AVG(TIMESTAMPDIFF(HOUR,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Pickup_Date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r.Distance_KM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rt.Avg_Transit_Time_Hours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Avg_Transit_Time_Hours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r.Distance_KM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rt.Avg_Transit_Time_Hours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Distance_Time_Efficiency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dhl_routes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route_transit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44A30-06B5-54E9-A91D-3564B9E3EBE8}"/>
              </a:ext>
            </a:extLst>
          </p:cNvPr>
          <p:cNvSpPr txBox="1"/>
          <p:nvPr/>
        </p:nvSpPr>
        <p:spPr>
          <a:xfrm>
            <a:off x="8240485" y="8494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Delay (Hours) per Route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4CD8B-0243-3B98-FDC8-2A77749DB164}"/>
              </a:ext>
            </a:extLst>
          </p:cNvPr>
          <p:cNvSpPr txBox="1"/>
          <p:nvPr/>
        </p:nvSpPr>
        <p:spPr>
          <a:xfrm>
            <a:off x="6806292" y="1741476"/>
            <a:ext cx="71682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ROUND(AVG(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52492E-5A39-1B0B-5B34-B1B013CAFD6A}"/>
              </a:ext>
            </a:extLst>
          </p:cNvPr>
          <p:cNvCxnSpPr/>
          <p:nvPr/>
        </p:nvCxnSpPr>
        <p:spPr>
          <a:xfrm>
            <a:off x="6564086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FDDB999-CD1E-702D-4A7D-5130E33C7455}"/>
              </a:ext>
            </a:extLst>
          </p:cNvPr>
          <p:cNvSpPr/>
          <p:nvPr/>
        </p:nvSpPr>
        <p:spPr>
          <a:xfrm>
            <a:off x="5399314" y="-21261"/>
            <a:ext cx="232954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00E95F-77EE-E669-870C-C53DBA0B93A6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0" y="163286"/>
            <a:ext cx="5399314" cy="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2E5040-654F-A7C2-7BD0-208BE036CED0}"/>
              </a:ext>
            </a:extLst>
          </p:cNvPr>
          <p:cNvCxnSpPr>
            <a:stCxn id="12" idx="3"/>
          </p:cNvCxnSpPr>
          <p:nvPr/>
        </p:nvCxnSpPr>
        <p:spPr>
          <a:xfrm>
            <a:off x="7728857" y="163405"/>
            <a:ext cx="4463143" cy="21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698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57AF-2F5D-4BED-4F70-9718A1EA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4: Warehouse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9C722-2B83-4A71-6685-8F3DBD003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top 3 warehouses with the highest average delay in shipments dispatched.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shipments vs delayed shipments for each warehouse.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CTEs to identify warehouses where average delay exceeds the global average delay.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all warehouses based on on-time delivery percentage. </a:t>
            </a:r>
          </a:p>
        </p:txBody>
      </p:sp>
    </p:spTree>
    <p:extLst>
      <p:ext uri="{BB962C8B-B14F-4D97-AF65-F5344CB8AC3E}">
        <p14:creationId xmlns:p14="http://schemas.microsoft.com/office/powerpoint/2010/main" val="105435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FC0177-9164-1704-41F9-E22AC90AE254}"/>
              </a:ext>
            </a:extLst>
          </p:cNvPr>
          <p:cNvCxnSpPr/>
          <p:nvPr/>
        </p:nvCxnSpPr>
        <p:spPr>
          <a:xfrm>
            <a:off x="6498771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9A7D81-A508-2763-5546-FEC711F962BE}"/>
              </a:ext>
            </a:extLst>
          </p:cNvPr>
          <p:cNvCxnSpPr>
            <a:cxnSpLocks/>
          </p:cNvCxnSpPr>
          <p:nvPr/>
        </p:nvCxnSpPr>
        <p:spPr>
          <a:xfrm>
            <a:off x="0" y="322217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FE73EC-8894-D8D7-4C59-DE4F5148CF16}"/>
              </a:ext>
            </a:extLst>
          </p:cNvPr>
          <p:cNvSpPr txBox="1"/>
          <p:nvPr/>
        </p:nvSpPr>
        <p:spPr>
          <a:xfrm>
            <a:off x="830036" y="0"/>
            <a:ext cx="61014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warehouses with 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delay</a:t>
            </a:r>
            <a:endParaRPr lang="en-US" sz="1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BDFFE40-CFB9-2158-3BB8-2B959F9CA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655970"/>
              </p:ext>
            </p:extLst>
          </p:nvPr>
        </p:nvGraphicFramePr>
        <p:xfrm>
          <a:off x="805543" y="555173"/>
          <a:ext cx="5181598" cy="2514596"/>
        </p:xfrm>
        <a:graphic>
          <a:graphicData uri="http://schemas.openxmlformats.org/drawingml/2006/table">
            <a:tbl>
              <a:tblPr/>
              <a:tblGrid>
                <a:gridCol w="2835700">
                  <a:extLst>
                    <a:ext uri="{9D8B030D-6E8A-4147-A177-3AD203B41FA5}">
                      <a16:colId xmlns:a16="http://schemas.microsoft.com/office/drawing/2014/main" val="1303872991"/>
                    </a:ext>
                  </a:extLst>
                </a:gridCol>
                <a:gridCol w="2345898">
                  <a:extLst>
                    <a:ext uri="{9D8B030D-6E8A-4147-A177-3AD203B41FA5}">
                      <a16:colId xmlns:a16="http://schemas.microsoft.com/office/drawing/2014/main" val="3583524096"/>
                    </a:ext>
                  </a:extLst>
                </a:gridCol>
              </a:tblGrid>
              <a:tr h="628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Warehouse_ID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Avg_Delay_Hours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2746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902397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984415"/>
                  </a:ext>
                </a:extLst>
              </a:tr>
              <a:tr h="6286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6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614291"/>
                  </a:ext>
                </a:extLst>
              </a:tr>
            </a:tbl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213C7780-AFDB-E750-C6DA-A8A139DDF0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1108457"/>
              </p:ext>
            </p:extLst>
          </p:nvPr>
        </p:nvGraphicFramePr>
        <p:xfrm>
          <a:off x="6574972" y="338554"/>
          <a:ext cx="559253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798428-11DF-9437-0EDE-A41F925D6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209819"/>
              </p:ext>
            </p:extLst>
          </p:nvPr>
        </p:nvGraphicFramePr>
        <p:xfrm>
          <a:off x="805543" y="4122521"/>
          <a:ext cx="5181596" cy="2508361"/>
        </p:xfrm>
        <a:graphic>
          <a:graphicData uri="http://schemas.openxmlformats.org/drawingml/2006/table">
            <a:tbl>
              <a:tblPr/>
              <a:tblGrid>
                <a:gridCol w="1452102">
                  <a:extLst>
                    <a:ext uri="{9D8B030D-6E8A-4147-A177-3AD203B41FA5}">
                      <a16:colId xmlns:a16="http://schemas.microsoft.com/office/drawing/2014/main" val="546232354"/>
                    </a:ext>
                  </a:extLst>
                </a:gridCol>
                <a:gridCol w="2310455">
                  <a:extLst>
                    <a:ext uri="{9D8B030D-6E8A-4147-A177-3AD203B41FA5}">
                      <a16:colId xmlns:a16="http://schemas.microsoft.com/office/drawing/2014/main" val="1648282962"/>
                    </a:ext>
                  </a:extLst>
                </a:gridCol>
                <a:gridCol w="1419039">
                  <a:extLst>
                    <a:ext uri="{9D8B030D-6E8A-4147-A177-3AD203B41FA5}">
                      <a16:colId xmlns:a16="http://schemas.microsoft.com/office/drawing/2014/main" val="1520364503"/>
                    </a:ext>
                  </a:extLst>
                </a:gridCol>
              </a:tblGrid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Warehouse_ID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Warehouse_Avg_Delay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Global_Avg_Delay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145410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722829"/>
                  </a:ext>
                </a:extLst>
              </a:tr>
              <a:tr h="3969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790251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25.88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8197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648522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50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42525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81457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6B67B81-2F09-BC72-A15C-8C41253DED51}"/>
              </a:ext>
            </a:extLst>
          </p:cNvPr>
          <p:cNvSpPr txBox="1"/>
          <p:nvPr/>
        </p:nvSpPr>
        <p:spPr>
          <a:xfrm>
            <a:off x="87090" y="3362589"/>
            <a:ext cx="6487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Warehouses where average delay exceeds </a:t>
            </a:r>
            <a:r>
              <a:rPr lang="en-US" sz="1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delay</a:t>
            </a:r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(CTE output)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3D4F6-8C0C-11E5-0660-44BD3870A9D4}"/>
              </a:ext>
            </a:extLst>
          </p:cNvPr>
          <p:cNvSpPr txBox="1"/>
          <p:nvPr/>
        </p:nvSpPr>
        <p:spPr>
          <a:xfrm>
            <a:off x="6553201" y="3288268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all warehouses based on on-time delivery percentage.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2F85F86-1010-1619-0BE7-92A700E0D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752769"/>
              </p:ext>
            </p:extLst>
          </p:nvPr>
        </p:nvGraphicFramePr>
        <p:xfrm>
          <a:off x="6553201" y="3798017"/>
          <a:ext cx="5529941" cy="2832863"/>
        </p:xfrm>
        <a:graphic>
          <a:graphicData uri="http://schemas.openxmlformats.org/drawingml/2006/table">
            <a:tbl>
              <a:tblPr/>
              <a:tblGrid>
                <a:gridCol w="913944">
                  <a:extLst>
                    <a:ext uri="{9D8B030D-6E8A-4147-A177-3AD203B41FA5}">
                      <a16:colId xmlns:a16="http://schemas.microsoft.com/office/drawing/2014/main" val="1166172130"/>
                    </a:ext>
                  </a:extLst>
                </a:gridCol>
                <a:gridCol w="1052771">
                  <a:extLst>
                    <a:ext uri="{9D8B030D-6E8A-4147-A177-3AD203B41FA5}">
                      <a16:colId xmlns:a16="http://schemas.microsoft.com/office/drawing/2014/main" val="2699471986"/>
                    </a:ext>
                  </a:extLst>
                </a:gridCol>
                <a:gridCol w="1237874">
                  <a:extLst>
                    <a:ext uri="{9D8B030D-6E8A-4147-A177-3AD203B41FA5}">
                      <a16:colId xmlns:a16="http://schemas.microsoft.com/office/drawing/2014/main" val="228158110"/>
                    </a:ext>
                  </a:extLst>
                </a:gridCol>
                <a:gridCol w="1261012">
                  <a:extLst>
                    <a:ext uri="{9D8B030D-6E8A-4147-A177-3AD203B41FA5}">
                      <a16:colId xmlns:a16="http://schemas.microsoft.com/office/drawing/2014/main" val="3485556188"/>
                    </a:ext>
                  </a:extLst>
                </a:gridCol>
                <a:gridCol w="1064340">
                  <a:extLst>
                    <a:ext uri="{9D8B030D-6E8A-4147-A177-3AD203B41FA5}">
                      <a16:colId xmlns:a16="http://schemas.microsoft.com/office/drawing/2014/main" val="4177685943"/>
                    </a:ext>
                  </a:extLst>
                </a:gridCol>
              </a:tblGrid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Warehouse_ID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Total_Shipments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On_Time_Shipments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On_Time_Percentage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50" b="1" i="0" u="none" strike="noStrike" err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Warehouse_Rank</a:t>
                      </a:r>
                      <a:endParaRPr lang="en-US" sz="1050" b="1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129828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257318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952594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92100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932125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66577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45974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21469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128888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40347"/>
                  </a:ext>
                </a:extLst>
              </a:tr>
              <a:tr h="2575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W007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39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419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ACFE7-F1A0-122E-F109-ECE87A914607}"/>
              </a:ext>
            </a:extLst>
          </p:cNvPr>
          <p:cNvSpPr txBox="1"/>
          <p:nvPr/>
        </p:nvSpPr>
        <p:spPr>
          <a:xfrm>
            <a:off x="185057" y="94443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Warehouses with Highest Average Delay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F3BF3-E2CB-13B5-D3D1-6D569067AD26}"/>
              </a:ext>
            </a:extLst>
          </p:cNvPr>
          <p:cNvSpPr txBox="1"/>
          <p:nvPr/>
        </p:nvSpPr>
        <p:spPr>
          <a:xfrm>
            <a:off x="185057" y="2152704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ROUND(AVG(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 3;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A2FB8-E8D3-34BB-B890-85EF4A411A02}"/>
              </a:ext>
            </a:extLst>
          </p:cNvPr>
          <p:cNvSpPr txBox="1"/>
          <p:nvPr/>
        </p:nvSpPr>
        <p:spPr>
          <a:xfrm>
            <a:off x="6977741" y="94443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Shipments vs Delayed Shipments (Per Warehouse)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9F73A-482E-FEC5-91C3-24BFC4F054F7}"/>
              </a:ext>
            </a:extLst>
          </p:cNvPr>
          <p:cNvSpPr txBox="1"/>
          <p:nvPr/>
        </p:nvSpPr>
        <p:spPr>
          <a:xfrm>
            <a:off x="7206342" y="2028616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SUM(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0 THEN 1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0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13B8C6-2D69-BBC7-91D8-E6D19AA2DFC2}"/>
              </a:ext>
            </a:extLst>
          </p:cNvPr>
          <p:cNvSpPr/>
          <p:nvPr/>
        </p:nvSpPr>
        <p:spPr>
          <a:xfrm>
            <a:off x="5410198" y="-54820"/>
            <a:ext cx="1567543" cy="478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SQL Queries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DF65E0E-278A-4983-C356-29F97EE49E1F}"/>
              </a:ext>
            </a:extLst>
          </p:cNvPr>
          <p:cNvCxnSpPr>
            <a:stCxn id="19" idx="2"/>
          </p:cNvCxnSpPr>
          <p:nvPr/>
        </p:nvCxnSpPr>
        <p:spPr>
          <a:xfrm flipH="1">
            <a:off x="6193969" y="424151"/>
            <a:ext cx="1" cy="643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F96A27-A403-473D-21CF-1AF3B69ED65F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0" y="174171"/>
            <a:ext cx="5410198" cy="10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E65743-8877-5505-E219-B34512564675}"/>
              </a:ext>
            </a:extLst>
          </p:cNvPr>
          <p:cNvCxnSpPr>
            <a:stCxn id="19" idx="3"/>
          </p:cNvCxnSpPr>
          <p:nvPr/>
        </p:nvCxnSpPr>
        <p:spPr>
          <a:xfrm flipV="1">
            <a:off x="6977741" y="174171"/>
            <a:ext cx="5214259" cy="10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888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40FA5-3BB1-A98F-9DB9-2FE733E8B176}"/>
              </a:ext>
            </a:extLst>
          </p:cNvPr>
          <p:cNvSpPr txBox="1"/>
          <p:nvPr/>
        </p:nvSpPr>
        <p:spPr>
          <a:xfrm>
            <a:off x="283028" y="1227807"/>
            <a:ext cx="6096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SUM(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0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On_Time_Shipments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 0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100.0 / COUNT(*),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BY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 0 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1.0 / COUNT(*) DESC</a:t>
            </a: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Warehouse_Rank</a:t>
            </a:r>
            <a:endParaRPr lang="en-US" sz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2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986157-5B3E-3BD3-3D75-FF2A77F751DD}"/>
              </a:ext>
            </a:extLst>
          </p:cNvPr>
          <p:cNvSpPr txBox="1"/>
          <p:nvPr/>
        </p:nvSpPr>
        <p:spPr>
          <a:xfrm>
            <a:off x="283028" y="50113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--Rank Warehouses by On-Time Delivery Percentage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DBD882-C864-0D3A-6279-9E7263CF15B7}"/>
              </a:ext>
            </a:extLst>
          </p:cNvPr>
          <p:cNvSpPr txBox="1"/>
          <p:nvPr/>
        </p:nvSpPr>
        <p:spPr>
          <a:xfrm>
            <a:off x="7957458" y="1524774"/>
            <a:ext cx="3178628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global_avg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(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 AVG(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Global_Avg_Delay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warehouse_avg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(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AVG(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Warehouse_Avg_Delay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GROUP BY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Warehouse_ID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w.Warehouse_Avg_Delay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 AS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Warehouse_Avg_Delay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g.Global_Avg_Delay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2) AS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Global_Avg_Delay</a:t>
            </a:r>
            <a:endParaRPr lang="en-US" sz="14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warehouse_avg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global_avg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</a:p>
          <a:p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w.Warehouse_Avg_Delay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lang="en-US" sz="14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g.Global_Avg_Delay</a:t>
            </a:r>
            <a:r>
              <a:rPr lang="en-US" sz="14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83F50-7F74-6B91-5A46-75F56C084999}"/>
              </a:ext>
            </a:extLst>
          </p:cNvPr>
          <p:cNvSpPr txBox="1"/>
          <p:nvPr/>
        </p:nvSpPr>
        <p:spPr>
          <a:xfrm>
            <a:off x="7576457" y="50113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--Warehouses Where Avg Delay &gt; Global Avg Delay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DE5EB5-15F2-3B36-6001-6963F8CA5299}"/>
              </a:ext>
            </a:extLst>
          </p:cNvPr>
          <p:cNvSpPr/>
          <p:nvPr/>
        </p:nvSpPr>
        <p:spPr>
          <a:xfrm>
            <a:off x="5410198" y="-54820"/>
            <a:ext cx="1567543" cy="4789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SQL Queries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A0558E-2FA8-4216-352A-C538F788B55E}"/>
              </a:ext>
            </a:extLst>
          </p:cNvPr>
          <p:cNvCxnSpPr>
            <a:stCxn id="10" idx="2"/>
          </p:cNvCxnSpPr>
          <p:nvPr/>
        </p:nvCxnSpPr>
        <p:spPr>
          <a:xfrm>
            <a:off x="6193970" y="424151"/>
            <a:ext cx="1" cy="643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A3A115-06B2-4149-64DE-ED9CB96AA620}"/>
              </a:ext>
            </a:extLst>
          </p:cNvPr>
          <p:cNvCxnSpPr>
            <a:stCxn id="10" idx="1"/>
          </p:cNvCxnSpPr>
          <p:nvPr/>
        </p:nvCxnSpPr>
        <p:spPr>
          <a:xfrm flipH="1">
            <a:off x="0" y="184666"/>
            <a:ext cx="5410198" cy="11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76756D-9B94-1613-DC43-1D5EDD8EE651}"/>
              </a:ext>
            </a:extLst>
          </p:cNvPr>
          <p:cNvCxnSpPr>
            <a:stCxn id="10" idx="3"/>
          </p:cNvCxnSpPr>
          <p:nvPr/>
        </p:nvCxnSpPr>
        <p:spPr>
          <a:xfrm>
            <a:off x="6977741" y="184666"/>
            <a:ext cx="5214259" cy="11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242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99C9-9B2C-1CB6-0C9C-34DE7B98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5: Delivery Agent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9FA3E-F801-8574-D2A0-6211D700E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Rank delivery agents (per route) by on-time delivery percentage.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Find agents whose on-time % is below 85%.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Compare the average rating and experience (in years) of the top 5 vs bottom 5 agents using subqueries.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Suggest training or workload balancing strategies for low-performing agents based on insights.</a:t>
            </a:r>
          </a:p>
        </p:txBody>
      </p:sp>
    </p:spTree>
    <p:extLst>
      <p:ext uri="{BB962C8B-B14F-4D97-AF65-F5344CB8AC3E}">
        <p14:creationId xmlns:p14="http://schemas.microsoft.com/office/powerpoint/2010/main" val="698313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D036F5-25C5-E6C2-7E1E-E4CBA16856DF}"/>
              </a:ext>
            </a:extLst>
          </p:cNvPr>
          <p:cNvCxnSpPr>
            <a:cxnSpLocks/>
          </p:cNvCxnSpPr>
          <p:nvPr/>
        </p:nvCxnSpPr>
        <p:spPr>
          <a:xfrm>
            <a:off x="6096000" y="-17880"/>
            <a:ext cx="0" cy="6875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239D8A-8391-AE3C-8622-3E6E07A2B4C6}"/>
              </a:ext>
            </a:extLst>
          </p:cNvPr>
          <p:cNvSpPr txBox="1"/>
          <p:nvPr/>
        </p:nvSpPr>
        <p:spPr>
          <a:xfrm>
            <a:off x="1088570" y="946887"/>
            <a:ext cx="432163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s.Agent_ID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SUM(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ELSE 0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On_Time_Shipments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 0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100.0 / COUNT(*),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RANK() OVER (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PARTITION BY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endParaRPr lang="en-US" sz="1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ORDER BY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 0 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1.0 / COUNT(*) DESC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Agent_Rank_Per_Route</a:t>
            </a:r>
            <a:endParaRPr lang="en-US" sz="1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s.Agent_ID</a:t>
            </a:r>
            <a:r>
              <a:rPr lang="en-US"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5DA65-6A59-0D11-FE5F-91F9652583FB}"/>
              </a:ext>
            </a:extLst>
          </p:cNvPr>
          <p:cNvSpPr/>
          <p:nvPr/>
        </p:nvSpPr>
        <p:spPr>
          <a:xfrm>
            <a:off x="4125684" y="-56644"/>
            <a:ext cx="3766457" cy="2759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2"/>
                </a:solidFill>
              </a:rPr>
              <a:t>SQL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B6ACD3-4C12-ECB6-C7D2-5FA02656D088}"/>
              </a:ext>
            </a:extLst>
          </p:cNvPr>
          <p:cNvSpPr txBox="1"/>
          <p:nvPr/>
        </p:nvSpPr>
        <p:spPr>
          <a:xfrm>
            <a:off x="-16329" y="592943"/>
            <a:ext cx="5426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Rank Delivery Agents (Per Route) by On-Time Delivery Percentage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377FA-3450-3164-50BE-16BB8627A444}"/>
              </a:ext>
            </a:extLst>
          </p:cNvPr>
          <p:cNvSpPr txBox="1"/>
          <p:nvPr/>
        </p:nvSpPr>
        <p:spPr>
          <a:xfrm>
            <a:off x="6335486" y="1758066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ELSE 0 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100.0 / COUNT(*),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endParaRPr lang="en-US" sz="1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endParaRPr lang="en-US" sz="14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1400" b="1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85;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F611C-8AA3-08E0-419C-935CA1D2FB88}"/>
              </a:ext>
            </a:extLst>
          </p:cNvPr>
          <p:cNvSpPr txBox="1"/>
          <p:nvPr/>
        </p:nvSpPr>
        <p:spPr>
          <a:xfrm>
            <a:off x="6335486" y="562166"/>
            <a:ext cx="4985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F0"/>
                </a:solidFill>
                <a:latin typeface="Aharoni" panose="020F0502020204030204" pitchFamily="2" charset="-79"/>
                <a:cs typeface="Aharoni" panose="020F0502020204030204" pitchFamily="2" charset="-79"/>
              </a:rPr>
              <a:t>-- Agents Whose On-Time Percentage is Below 85%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F2FFCA-F5B6-D3B7-D69E-6E4FEC39DB16}"/>
              </a:ext>
            </a:extLst>
          </p:cNvPr>
          <p:cNvCxnSpPr>
            <a:stCxn id="8" idx="1"/>
          </p:cNvCxnSpPr>
          <p:nvPr/>
        </p:nvCxnSpPr>
        <p:spPr>
          <a:xfrm flipH="1">
            <a:off x="-16329" y="81345"/>
            <a:ext cx="4142013" cy="5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0E4442-FEF0-EAF4-84B1-FF9874FCA0B7}"/>
              </a:ext>
            </a:extLst>
          </p:cNvPr>
          <p:cNvCxnSpPr>
            <a:stCxn id="8" idx="3"/>
          </p:cNvCxnSpPr>
          <p:nvPr/>
        </p:nvCxnSpPr>
        <p:spPr>
          <a:xfrm>
            <a:off x="7892141" y="81345"/>
            <a:ext cx="4299859" cy="5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65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A6D903-B575-0B0A-55FE-F46F0DF96F86}"/>
              </a:ext>
            </a:extLst>
          </p:cNvPr>
          <p:cNvSpPr txBox="1"/>
          <p:nvPr/>
        </p:nvSpPr>
        <p:spPr>
          <a:xfrm>
            <a:off x="391885" y="188686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agent_performance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(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SELECT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ROUND(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SUM(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CASE        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WHEN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ELSE 0          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END     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) * 100.0 / COUNT(*),  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2    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FROM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GROUP BY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endParaRPr lang="en-US" sz="14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agent_performance</a:t>
            </a:r>
            <a:endParaRPr lang="en-US" sz="14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85;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1D118-AA50-BF7B-2024-7DEF6F505B65}"/>
              </a:ext>
            </a:extLst>
          </p:cNvPr>
          <p:cNvSpPr txBox="1"/>
          <p:nvPr/>
        </p:nvSpPr>
        <p:spPr>
          <a:xfrm>
            <a:off x="206828" y="118074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Calculate On-Time % Per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DDE40-CDF4-19A5-D005-7A2FAB3582AE}"/>
              </a:ext>
            </a:extLst>
          </p:cNvPr>
          <p:cNvSpPr txBox="1"/>
          <p:nvPr/>
        </p:nvSpPr>
        <p:spPr>
          <a:xfrm>
            <a:off x="5889172" y="1025242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agent_performance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ROUND(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SUM(CASE WHEN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OnTime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THEN 1 ELSE 0 END)/COUNT(*) * 100, 2)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On_Time_PercentageFROM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4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20B75-8E37-43FC-4D7B-8A060D956EE1}"/>
              </a:ext>
            </a:extLst>
          </p:cNvPr>
          <p:cNvSpPr txBox="1"/>
          <p:nvPr/>
        </p:nvSpPr>
        <p:spPr>
          <a:xfrm>
            <a:off x="5921829" y="696234"/>
            <a:ext cx="61994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Top 5 Agents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B37D76-4284-7CCD-A175-63C56006AD34}"/>
              </a:ext>
            </a:extLst>
          </p:cNvPr>
          <p:cNvSpPr txBox="1"/>
          <p:nvPr/>
        </p:nvSpPr>
        <p:spPr>
          <a:xfrm>
            <a:off x="5921829" y="4746820"/>
            <a:ext cx="63409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Bottom 5 Agents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D362E2-0456-E10C-6DDA-A3D56B6AD9D7}"/>
              </a:ext>
            </a:extLst>
          </p:cNvPr>
          <p:cNvSpPr txBox="1"/>
          <p:nvPr/>
        </p:nvSpPr>
        <p:spPr>
          <a:xfrm>
            <a:off x="5851072" y="5149144"/>
            <a:ext cx="6340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5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AgentsSELECT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'Bottom 5 Agents'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Agent_Group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ROUND(AVG(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a.Avg_Rating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Avg_Rating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ROUND(AVG(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a.Experience_Years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Avg_Experience</a:t>
            </a:r>
            <a:endParaRPr lang="en-US" sz="12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dhl_delivery_agents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JOIN(    SELECT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agent_performance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ASC   </a:t>
            </a:r>
          </a:p>
          <a:p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 5)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a.Agent_ID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2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t.Agent_ID</a:t>
            </a:r>
            <a:r>
              <a:rPr lang="en-US" sz="12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E2DE9C-844A-BFE6-5205-E146ECE555CB}"/>
              </a:ext>
            </a:extLst>
          </p:cNvPr>
          <p:cNvSpPr txBox="1"/>
          <p:nvPr/>
        </p:nvSpPr>
        <p:spPr>
          <a:xfrm>
            <a:off x="5851072" y="2836392"/>
            <a:ext cx="63409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'Top 5 Agents' AS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Agent_Group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ROUND(AVG(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a.Avg_Rating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Avg_Rating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ROUND(AVG(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a.Experience_Years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Avg_Experience</a:t>
            </a:r>
            <a:endParaRPr lang="en-US" sz="14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dhl_delivery_agents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(    SELECT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agent_performance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ORDER BY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On_Time_Percentage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LIMIT 5)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t.Agent_ID</a:t>
            </a:r>
            <a:r>
              <a:rPr lang="en-US" sz="14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7D16C7-0960-923A-F36F-2B9CA310A5D8}"/>
              </a:ext>
            </a:extLst>
          </p:cNvPr>
          <p:cNvCxnSpPr/>
          <p:nvPr/>
        </p:nvCxnSpPr>
        <p:spPr>
          <a:xfrm>
            <a:off x="4844143" y="315686"/>
            <a:ext cx="0" cy="6542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510CD0B-4AB3-7581-7F3D-4E0DA6A3F284}"/>
              </a:ext>
            </a:extLst>
          </p:cNvPr>
          <p:cNvSpPr/>
          <p:nvPr/>
        </p:nvSpPr>
        <p:spPr>
          <a:xfrm>
            <a:off x="2925536" y="-19731"/>
            <a:ext cx="3788229" cy="3191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Avg Rating &amp; Experience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A9F83A-8801-FD5A-6DAD-E577F4EE5772}"/>
              </a:ext>
            </a:extLst>
          </p:cNvPr>
          <p:cNvCxnSpPr>
            <a:stCxn id="20" idx="1"/>
          </p:cNvCxnSpPr>
          <p:nvPr/>
        </p:nvCxnSpPr>
        <p:spPr>
          <a:xfrm flipH="1">
            <a:off x="0" y="139829"/>
            <a:ext cx="29255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EF967F-9CEC-5BF4-EEB9-4C3305C2D6B7}"/>
              </a:ext>
            </a:extLst>
          </p:cNvPr>
          <p:cNvCxnSpPr>
            <a:stCxn id="20" idx="3"/>
          </p:cNvCxnSpPr>
          <p:nvPr/>
        </p:nvCxnSpPr>
        <p:spPr>
          <a:xfrm>
            <a:off x="6713765" y="139829"/>
            <a:ext cx="54782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161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44D88D-46B4-D3CC-F52D-0495A594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365125"/>
            <a:ext cx="10559143" cy="1376589"/>
          </a:xfrm>
        </p:spPr>
        <p:txBody>
          <a:bodyPr>
            <a:norm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1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Avg Rating &amp; Experience                           Recommendations for Low-Performing Agents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2456CA4-B777-2AD0-806F-80826EBAE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8496445"/>
              </p:ext>
            </p:extLst>
          </p:nvPr>
        </p:nvGraphicFramePr>
        <p:xfrm>
          <a:off x="1001493" y="1948543"/>
          <a:ext cx="4931214" cy="4544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635E2B-F5E6-8A8A-26FF-B262BE160260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6074229" y="365125"/>
            <a:ext cx="21771" cy="6492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546EB6-6E03-FCBE-F50C-316D8D61B6DE}"/>
              </a:ext>
            </a:extLst>
          </p:cNvPr>
          <p:cNvSpPr txBox="1"/>
          <p:nvPr/>
        </p:nvSpPr>
        <p:spPr>
          <a:xfrm>
            <a:off x="6237522" y="1948543"/>
            <a:ext cx="56714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Recommended Actions</a:t>
            </a:r>
          </a:p>
          <a:p>
            <a:pPr>
              <a:buNone/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Training Interventions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planning &amp; time management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&amp; delivery app usage refresher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communication skills improvement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Workload Balancing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shipment load on complex routes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senior agents as mentors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 agents across routes to reduce fatigue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🔹 Performance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on-time %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Incentives for consistent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for repeated delays</a:t>
            </a:r>
          </a:p>
        </p:txBody>
      </p:sp>
    </p:spTree>
    <p:extLst>
      <p:ext uri="{BB962C8B-B14F-4D97-AF65-F5344CB8AC3E}">
        <p14:creationId xmlns:p14="http://schemas.microsoft.com/office/powerpoint/2010/main" val="3950622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160E-2150-01D5-B9E9-5D40620C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6: Shipment Tracking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ED247-8252-AE94-8D0A-8AA407C0794F}"/>
              </a:ext>
            </a:extLst>
          </p:cNvPr>
          <p:cNvSpPr txBox="1"/>
          <p:nvPr/>
        </p:nvSpPr>
        <p:spPr>
          <a:xfrm>
            <a:off x="838200" y="1397675"/>
            <a:ext cx="118833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For each shipment, display the latest status (Delivered, In Transit, or Returned) along with the latest 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Identify routes where the majority of shipments are still “In Transit” or “Returned”. 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Find the most frequent delay reasons (if available in delay-related columns or flags). 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Identify orders with exceptionally high delay (&gt;120 hours) to investigate potential bottlenecks.</a:t>
            </a:r>
          </a:p>
          <a:p>
            <a:endParaRPr lang="en-US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50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1D8EA1-6879-E7CC-D285-54A95C07D9AF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C3C482-C98A-BF81-6043-269B3C9D7E6D}"/>
              </a:ext>
            </a:extLst>
          </p:cNvPr>
          <p:cNvCxnSpPr/>
          <p:nvPr/>
        </p:nvCxnSpPr>
        <p:spPr>
          <a:xfrm>
            <a:off x="0" y="314597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783475-3E45-026C-21C1-B0973AC64723}"/>
              </a:ext>
            </a:extLst>
          </p:cNvPr>
          <p:cNvSpPr txBox="1"/>
          <p:nvPr/>
        </p:nvSpPr>
        <p:spPr>
          <a:xfrm>
            <a:off x="1080407" y="0"/>
            <a:ext cx="61014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--Latest Status &amp; Latest </a:t>
            </a:r>
            <a:r>
              <a:rPr lang="en-US" sz="1400" b="1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Shipment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830F3-B45D-68D3-3518-55037D9C3A04}"/>
              </a:ext>
            </a:extLst>
          </p:cNvPr>
          <p:cNvSpPr txBox="1"/>
          <p:nvPr/>
        </p:nvSpPr>
        <p:spPr>
          <a:xfrm>
            <a:off x="2459627" y="269303"/>
            <a:ext cx="610144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endParaRPr lang="en-US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(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ROW_NUMBER() OVER (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PARTITION BY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Shipment_ID</a:t>
            </a:r>
            <a:endParaRPr lang="en-US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ORDER BY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Delivery_Date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AS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endParaRPr lang="en-US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1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</a:t>
            </a:r>
          </a:p>
          <a:p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1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sz="11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2194B6-F55D-D84A-3381-A8FEFB2191D4}"/>
              </a:ext>
            </a:extLst>
          </p:cNvPr>
          <p:cNvSpPr txBox="1"/>
          <p:nvPr/>
        </p:nvSpPr>
        <p:spPr>
          <a:xfrm>
            <a:off x="6208668" y="69249"/>
            <a:ext cx="6101442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Total_Shipments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SUM(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CASE 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WHEN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('In Transit', 'Returned')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THEN 1 ELSE 0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Pending_Shipments,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ROUND(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SUM(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CASE 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WHEN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Delivery_Status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('In Transit', 'Returned')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THEN 1 ELSE 0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END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) * 100.0 / COUNT(*),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) AS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Pending_Percentage</a:t>
            </a:r>
            <a:endParaRPr lang="en-US" sz="9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9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US" sz="900" b="1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sz="900" b="1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Pending_Percentage</a:t>
            </a:r>
            <a:r>
              <a:rPr lang="en-US" sz="9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50;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78C241-5D68-4FFC-3FC2-19EBDA56F362}"/>
              </a:ext>
            </a:extLst>
          </p:cNvPr>
          <p:cNvSpPr txBox="1"/>
          <p:nvPr/>
        </p:nvSpPr>
        <p:spPr>
          <a:xfrm>
            <a:off x="6981962" y="-84369"/>
            <a:ext cx="75723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Where Majority Shipments Are “In Transit” or “Returned”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D3582D4-3FFC-2F4F-D6AD-4F4154023F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093892"/>
              </p:ext>
            </p:extLst>
          </p:nvPr>
        </p:nvGraphicFramePr>
        <p:xfrm>
          <a:off x="938348" y="3429000"/>
          <a:ext cx="4572000" cy="3249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3E2628D-67A0-0FB4-44A4-2753DB5571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2670554"/>
              </p:ext>
            </p:extLst>
          </p:nvPr>
        </p:nvGraphicFramePr>
        <p:xfrm>
          <a:off x="6530340" y="3509009"/>
          <a:ext cx="5402580" cy="3169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94971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15BD-756B-6CAB-F3C9-5E3ACE53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2E457-A0D0-A683-D3B0-55ECBA37B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Most Frequent Delay Reasons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19D12-0E97-9F9A-7FB2-01DDE39567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CASE   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'No Delay'  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1 AND 24 THEN 'Minor Delay'   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25 AND 72 THEN 'Moderate Delay’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ELSE 'Severe Delay’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END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Delay_Category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Shipment_Count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Delay_Category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Shipment_Count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97B5A-BA2F-44DF-0A6D-333E43C79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Orders with Exceptionally High Delay (&gt;120 Hours)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5E11F-4CDE-724D-04CB-0D53DA766EF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s.Order_ID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s.Delivery_Status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120</a:t>
            </a:r>
          </a:p>
          <a:p>
            <a:pPr marL="0" indent="0">
              <a:buNone/>
            </a:pP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1998972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4DE0DE-1E54-A946-0375-55D8E58E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7: Advanced KPI Reporting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80E96-AFE3-8809-8CA5-4D2C2F9ED6A4}"/>
              </a:ext>
            </a:extLst>
          </p:cNvPr>
          <p:cNvSpPr txBox="1"/>
          <p:nvPr/>
        </p:nvSpPr>
        <p:spPr>
          <a:xfrm>
            <a:off x="838200" y="1690688"/>
            <a:ext cx="11049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SQL queries to calculate and summarize the following KPIs: 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Average Delivery Delay per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Source_Country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On-Time Delivery % = (Total On-Time Deliveries / Total Deliveries) * 100. 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Average Delay (in hours) per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Warehouse Utilization % = 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Shipments_Handled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Capacity_per_day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* 100. Use aggregation and CASE statements to compute  these metrics and create summarized KPI tables. </a:t>
            </a:r>
          </a:p>
        </p:txBody>
      </p:sp>
    </p:spTree>
    <p:extLst>
      <p:ext uri="{BB962C8B-B14F-4D97-AF65-F5344CB8AC3E}">
        <p14:creationId xmlns:p14="http://schemas.microsoft.com/office/powerpoint/2010/main" val="2176466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CD94E8-4005-2E78-0770-647F64C30AD5}"/>
              </a:ext>
            </a:extLst>
          </p:cNvPr>
          <p:cNvCxnSpPr/>
          <p:nvPr/>
        </p:nvCxnSpPr>
        <p:spPr>
          <a:xfrm>
            <a:off x="63246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4E27E8-C2FB-5C78-93D5-1BBA315C3DAF}"/>
              </a:ext>
            </a:extLst>
          </p:cNvPr>
          <p:cNvCxnSpPr/>
          <p:nvPr/>
        </p:nvCxnSpPr>
        <p:spPr>
          <a:xfrm>
            <a:off x="0" y="322217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6323C5CE-BDA2-6554-F022-D0EC4B6C0F9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66684304"/>
                  </p:ext>
                </p:extLst>
              </p:nvPr>
            </p:nvGraphicFramePr>
            <p:xfrm>
              <a:off x="330925" y="161380"/>
              <a:ext cx="5765074" cy="295192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6323C5CE-BDA2-6554-F022-D0EC4B6C0F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925" y="161380"/>
                <a:ext cx="5765074" cy="2951927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DD058E-8911-A379-1F5B-D5B954EFB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37628"/>
              </p:ext>
            </p:extLst>
          </p:nvPr>
        </p:nvGraphicFramePr>
        <p:xfrm>
          <a:off x="6770915" y="835727"/>
          <a:ext cx="5090153" cy="1526471"/>
        </p:xfrm>
        <a:graphic>
          <a:graphicData uri="http://schemas.openxmlformats.org/drawingml/2006/table">
            <a:tbl>
              <a:tblPr/>
              <a:tblGrid>
                <a:gridCol w="1538233">
                  <a:extLst>
                    <a:ext uri="{9D8B030D-6E8A-4147-A177-3AD203B41FA5}">
                      <a16:colId xmlns:a16="http://schemas.microsoft.com/office/drawing/2014/main" val="1617505953"/>
                    </a:ext>
                  </a:extLst>
                </a:gridCol>
                <a:gridCol w="1454329">
                  <a:extLst>
                    <a:ext uri="{9D8B030D-6E8A-4147-A177-3AD203B41FA5}">
                      <a16:colId xmlns:a16="http://schemas.microsoft.com/office/drawing/2014/main" val="2634100670"/>
                    </a:ext>
                  </a:extLst>
                </a:gridCol>
                <a:gridCol w="2097591">
                  <a:extLst>
                    <a:ext uri="{9D8B030D-6E8A-4147-A177-3AD203B41FA5}">
                      <a16:colId xmlns:a16="http://schemas.microsoft.com/office/drawing/2014/main" val="2868979311"/>
                    </a:ext>
                  </a:extLst>
                </a:gridCol>
              </a:tblGrid>
              <a:tr h="7794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Total_Deliveries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On_Time_Deliveries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On_Time_Delivery_Percentage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813367"/>
                  </a:ext>
                </a:extLst>
              </a:tr>
              <a:tr h="7469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376708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4E1DE7B-BEFB-B1CF-F4F4-511033C77E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745980"/>
              </p:ext>
            </p:extLst>
          </p:nvPr>
        </p:nvGraphicFramePr>
        <p:xfrm>
          <a:off x="457201" y="3744684"/>
          <a:ext cx="519248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50E4FD7-6037-1A5C-5657-651AB63C70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025790"/>
              </p:ext>
            </p:extLst>
          </p:nvPr>
        </p:nvGraphicFramePr>
        <p:xfrm>
          <a:off x="6694713" y="3635828"/>
          <a:ext cx="5166351" cy="2852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93169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5D5ED9-7334-2CA6-4066-CD48BDE2141E}"/>
              </a:ext>
            </a:extLst>
          </p:cNvPr>
          <p:cNvSpPr txBox="1"/>
          <p:nvPr/>
        </p:nvSpPr>
        <p:spPr>
          <a:xfrm>
            <a:off x="87086" y="56644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Average Delivery Delay per </a:t>
            </a:r>
            <a:r>
              <a:rPr lang="en-US" sz="16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Source_Country</a:t>
            </a:r>
            <a:endParaRPr lang="en-US" sz="1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E82B6-43AE-78D2-2EB4-65F380DB0F7D}"/>
              </a:ext>
            </a:extLst>
          </p:cNvPr>
          <p:cNvSpPr txBox="1"/>
          <p:nvPr/>
        </p:nvSpPr>
        <p:spPr>
          <a:xfrm>
            <a:off x="87086" y="1174207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r.Source_Country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ROUND(AVG(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Avg_Delivery_Delay_Hours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dhl_routes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r.Route_ID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r.Source_Country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Avg_Delivery_Delay_Hours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F623D-4FED-3DAC-D38E-7CB5E4AFC8CC}"/>
              </a:ext>
            </a:extLst>
          </p:cNvPr>
          <p:cNvSpPr txBox="1"/>
          <p:nvPr/>
        </p:nvSpPr>
        <p:spPr>
          <a:xfrm>
            <a:off x="130629" y="333102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 On-Time Delivery Percentage (Overall)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CA9E1-BB97-1E19-1FD3-31B0A1344AEA}"/>
              </a:ext>
            </a:extLst>
          </p:cNvPr>
          <p:cNvSpPr txBox="1"/>
          <p:nvPr/>
        </p:nvSpPr>
        <p:spPr>
          <a:xfrm>
            <a:off x="87086" y="3867912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COUNT(*)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Total_Deliveries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  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  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ELSE 0   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END    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On_Time_Deliveries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ROUND ( SUM( CASE  WHEN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THEN 1                         ELSE 0  END ) * 100.0 / COUNT(*), 2 )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On_Time_Delivery_Percentage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C8C80-6D86-6F27-CB7D-FFF3DF638E70}"/>
              </a:ext>
            </a:extLst>
          </p:cNvPr>
          <p:cNvSpPr txBox="1"/>
          <p:nvPr/>
        </p:nvSpPr>
        <p:spPr>
          <a:xfrm>
            <a:off x="6411685" y="41235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-- Average Delay (Hours) per </a:t>
            </a:r>
            <a:r>
              <a:rPr lang="en-US" err="1">
                <a:solidFill>
                  <a:srgbClr val="FF0000"/>
                </a:solidFill>
              </a:rPr>
              <a:t>Route_ID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98000-546E-13BC-CAE3-D50D76522C3D}"/>
              </a:ext>
            </a:extLst>
          </p:cNvPr>
          <p:cNvSpPr txBox="1"/>
          <p:nvPr/>
        </p:nvSpPr>
        <p:spPr>
          <a:xfrm>
            <a:off x="6226629" y="465113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ROUND(AVG(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2)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Avg_Delay_Hours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1DA23-5193-685F-5AEC-4105613BC6D7}"/>
              </a:ext>
            </a:extLst>
          </p:cNvPr>
          <p:cNvSpPr txBox="1"/>
          <p:nvPr/>
        </p:nvSpPr>
        <p:spPr>
          <a:xfrm>
            <a:off x="6411685" y="636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-- Warehouse Utilization Percentage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D2A4A-FB41-53D1-2AF7-2C8BB3AADBB2}"/>
              </a:ext>
            </a:extLst>
          </p:cNvPr>
          <p:cNvSpPr txBox="1"/>
          <p:nvPr/>
        </p:nvSpPr>
        <p:spPr>
          <a:xfrm>
            <a:off x="6226629" y="1283531"/>
            <a:ext cx="65096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w.City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w.Capacity_per_day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COUNT(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Shipments_Handled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 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ROUND(COUNT(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s.Shipment_ID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* 100.0 /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w.Capacity_per_day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2) AS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Warehouse_Utilization_Percentage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dhl_warehouses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dhl_shipments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s.Warehouse_ID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w.Warehouse_ID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w.City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w.Country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w.Capacity_per_day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160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Warehouse_Utilization_Percentage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0DE296-A9B5-82EA-19FE-446AF3D998A6}"/>
              </a:ext>
            </a:extLst>
          </p:cNvPr>
          <p:cNvSpPr/>
          <p:nvPr/>
        </p:nvSpPr>
        <p:spPr>
          <a:xfrm>
            <a:off x="4550229" y="-10532"/>
            <a:ext cx="2775857" cy="438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0000"/>
                </a:solidFill>
              </a:rPr>
              <a:t>SQL Queries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BC5DB7-5FA5-D774-95E2-56F88E29C867}"/>
              </a:ext>
            </a:extLst>
          </p:cNvPr>
          <p:cNvCxnSpPr>
            <a:stCxn id="18" idx="2"/>
          </p:cNvCxnSpPr>
          <p:nvPr/>
        </p:nvCxnSpPr>
        <p:spPr>
          <a:xfrm>
            <a:off x="5938158" y="427558"/>
            <a:ext cx="5442" cy="64304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329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9139BA-9DD1-35E2-464A-130BEAD6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1C8293-99CC-8FE6-ABC6-3B9A0A87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4696506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Operations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 and validated logistics data (duplicates, missing delays, integrity checks), enabling reliable analysis.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delays are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random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they are concentrated in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routes, warehouses, and agents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&amp; Route Performance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delayed routes contribute disproportionately to total delays.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routes show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distance-to-time efficiency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&gt;20% delayed shipments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deliveries experience higher delays than Express, indicating SLA gaps.</a:t>
            </a:r>
          </a:p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 &amp; Agent Performance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warehouses have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above-average delays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often operating near capacity.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 with </a:t>
            </a:r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&lt;85% on-time delivery</a:t>
            </a:r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concentrated on complex or overloaded routes.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with high “In Transit / Returned” status (&gt;50%) indicate hub or last-mile bottlenecks.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247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C9DD-FBAC-2D88-A8A2-96916238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4588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25FD-44F7-9748-424F-7B5807F6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8090"/>
            <a:ext cx="10515600" cy="4761820"/>
          </a:xfrm>
        </p:spPr>
        <p:txBody>
          <a:bodyPr>
            <a:noAutofit/>
          </a:bodyPr>
          <a:lstStyle/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dynamic route reassignment during peak hours.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night-time dispatch for long-haul routes.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Redesign or split consistently inefficient routes.</a:t>
            </a:r>
          </a:p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Warehouse Optimization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Decongest high-delay warehouses by shifting volume to secondary hubs.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 staffing and capacity during peak demand periods.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warehouse-level SLAs using on-time delivery %.</a:t>
            </a:r>
          </a:p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&amp; Execution Improvement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 training for low-performing agents (route planning, time management).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Mentor-based coaching using top-performing agents.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workloads on complex routes.</a:t>
            </a:r>
          </a:p>
          <a:p>
            <a:r>
              <a:rPr lang="en-US" sz="1600" b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Control</a:t>
            </a:r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real-time dashboards for route, warehouse, and agent performance.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alerts to flag shipments at risk of &gt;120-hour delay.</a:t>
            </a:r>
          </a:p>
          <a:p>
            <a:r>
              <a:rPr lang="en-US" sz="16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Proactively manage SLA risks instead of reacting post-delay.</a:t>
            </a:r>
          </a:p>
          <a:p>
            <a:endParaRPr lang="en-US" sz="160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96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wood block&#10;&#10;AI-generated content may be incorrect.">
            <a:extLst>
              <a:ext uri="{FF2B5EF4-FFF2-40B4-BE49-F238E27FC236}">
                <a16:creationId xmlns:a16="http://schemas.microsoft.com/office/drawing/2014/main" id="{08DB3445-68A9-F2A9-02C9-9B594373B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01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8700</TotalTime>
  <Words>4350</Words>
  <Application>Microsoft Office PowerPoint</Application>
  <PresentationFormat>Widescreen</PresentationFormat>
  <Paragraphs>700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Aharoni</vt:lpstr>
      <vt:lpstr>Algerian</vt:lpstr>
      <vt:lpstr>Aptos</vt:lpstr>
      <vt:lpstr>Aptos Narrow</vt:lpstr>
      <vt:lpstr>Arial</vt:lpstr>
      <vt:lpstr>Calibri</vt:lpstr>
      <vt:lpstr>Calibri Light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Task 1: Data Cleaning &amp; Preparation</vt:lpstr>
      <vt:lpstr>PowerPoint Presentation</vt:lpstr>
      <vt:lpstr>PowerPoint Presentation</vt:lpstr>
      <vt:lpstr>Task 2: Delivery Delay Analysis</vt:lpstr>
      <vt:lpstr>PowerPoint Presentation</vt:lpstr>
      <vt:lpstr>PowerPoint Presentation</vt:lpstr>
      <vt:lpstr>Task 3: Route Optimization Insights </vt:lpstr>
      <vt:lpstr>PowerPoint Presentation</vt:lpstr>
      <vt:lpstr>PowerPoint Presentation</vt:lpstr>
      <vt:lpstr>PowerPoint Presentation</vt:lpstr>
      <vt:lpstr>Task 4: Warehouse Performance</vt:lpstr>
      <vt:lpstr>PowerPoint Presentation</vt:lpstr>
      <vt:lpstr>PowerPoint Presentation</vt:lpstr>
      <vt:lpstr>PowerPoint Presentation</vt:lpstr>
      <vt:lpstr>Task 5: Delivery Agent Performance</vt:lpstr>
      <vt:lpstr>PowerPoint Presentation</vt:lpstr>
      <vt:lpstr>PowerPoint Presentation</vt:lpstr>
      <vt:lpstr>            Compare Avg Rating &amp; Experience                           Recommendations for Low-Performing Agents</vt:lpstr>
      <vt:lpstr>Task 6: Shipment Tracking Analytics</vt:lpstr>
      <vt:lpstr>PowerPoint Presentation</vt:lpstr>
      <vt:lpstr>SQL Queries </vt:lpstr>
      <vt:lpstr>Task 7: Advanced KPI Reporting</vt:lpstr>
      <vt:lpstr>PowerPoint Presentation</vt:lpstr>
      <vt:lpstr>PowerPoint Presentation</vt:lpstr>
      <vt:lpstr>Key Insights</vt:lpstr>
      <vt:lpstr>Business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Harivansh Dogne</dc:creator>
  <cp:lastModifiedBy>Harivansh Dogne</cp:lastModifiedBy>
  <cp:revision>62</cp:revision>
  <dcterms:created xsi:type="dcterms:W3CDTF">2026-01-01T15:27:46Z</dcterms:created>
  <dcterms:modified xsi:type="dcterms:W3CDTF">2026-01-11T16:14:00Z</dcterms:modified>
</cp:coreProperties>
</file>